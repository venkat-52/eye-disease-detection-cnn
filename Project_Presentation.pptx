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Layouts/slideLayout19.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22.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Masters/slideMaster2.xml" ContentType="application/vnd.openxmlformats-officedocument.presentationml.slideMaster+xml"/>
  <Override PartName="/ppt/slides/slide5.xml" ContentType="application/vnd.openxmlformats-officedocument.presentationml.slide+xml"/>
  <Override PartName="/ppt/slideLayouts/slideLayout7.xml" ContentType="application/vnd.openxmlformats-officedocument.presentationml.slideLayout+xml"/>
  <Default Extension="png" ContentType="image/p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 id="2147483684" r:id="rId2"/>
  </p:sldMasterIdLst>
  <p:notesMasterIdLst>
    <p:notesMasterId r:id="rId18"/>
  </p:notesMasterIdLst>
  <p:sldIdLst>
    <p:sldId id="266" r:id="rId3"/>
    <p:sldId id="259" r:id="rId4"/>
    <p:sldId id="260" r:id="rId5"/>
    <p:sldId id="284" r:id="rId6"/>
    <p:sldId id="285" r:id="rId7"/>
    <p:sldId id="286" r:id="rId8"/>
    <p:sldId id="287" r:id="rId9"/>
    <p:sldId id="276" r:id="rId10"/>
    <p:sldId id="277" r:id="rId11"/>
    <p:sldId id="288" r:id="rId12"/>
    <p:sldId id="271" r:id="rId13"/>
    <p:sldId id="289" r:id="rId14"/>
    <p:sldId id="290" r:id="rId15"/>
    <p:sldId id="273" r:id="rId16"/>
    <p:sldId id="282" r:id="rId17"/>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Calibri" pitchFamily="34" charset="0"/>
        <a:ea typeface="+mn-ea"/>
        <a:cs typeface="Arial" charset="0"/>
      </a:defRPr>
    </a:lvl1pPr>
    <a:lvl2pPr marL="457200" algn="l" rtl="0" eaLnBrk="0" fontAlgn="base" hangingPunct="0">
      <a:spcBef>
        <a:spcPct val="0"/>
      </a:spcBef>
      <a:spcAft>
        <a:spcPct val="0"/>
      </a:spcAft>
      <a:defRPr kern="1200">
        <a:solidFill>
          <a:schemeClr val="tx1"/>
        </a:solidFill>
        <a:latin typeface="Calibri" pitchFamily="34" charset="0"/>
        <a:ea typeface="+mn-ea"/>
        <a:cs typeface="Arial" charset="0"/>
      </a:defRPr>
    </a:lvl2pPr>
    <a:lvl3pPr marL="914400" algn="l" rtl="0" eaLnBrk="0" fontAlgn="base" hangingPunct="0">
      <a:spcBef>
        <a:spcPct val="0"/>
      </a:spcBef>
      <a:spcAft>
        <a:spcPct val="0"/>
      </a:spcAft>
      <a:defRPr kern="1200">
        <a:solidFill>
          <a:schemeClr val="tx1"/>
        </a:solidFill>
        <a:latin typeface="Calibri" pitchFamily="34" charset="0"/>
        <a:ea typeface="+mn-ea"/>
        <a:cs typeface="Arial" charset="0"/>
      </a:defRPr>
    </a:lvl3pPr>
    <a:lvl4pPr marL="1371600" algn="l" rtl="0" eaLnBrk="0" fontAlgn="base" hangingPunct="0">
      <a:spcBef>
        <a:spcPct val="0"/>
      </a:spcBef>
      <a:spcAft>
        <a:spcPct val="0"/>
      </a:spcAft>
      <a:defRPr kern="1200">
        <a:solidFill>
          <a:schemeClr val="tx1"/>
        </a:solidFill>
        <a:latin typeface="Calibri" pitchFamily="34" charset="0"/>
        <a:ea typeface="+mn-ea"/>
        <a:cs typeface="Arial" charset="0"/>
      </a:defRPr>
    </a:lvl4pPr>
    <a:lvl5pPr marL="1828800" algn="l" rtl="0" eaLnBrk="0" fontAlgn="base" hangingPunct="0">
      <a:spcBef>
        <a:spcPct val="0"/>
      </a:spcBef>
      <a:spcAft>
        <a:spcPct val="0"/>
      </a:spcAft>
      <a:defRPr kern="1200">
        <a:solidFill>
          <a:schemeClr val="tx1"/>
        </a:solidFill>
        <a:latin typeface="Calibri" pitchFamily="34" charset="0"/>
        <a:ea typeface="+mn-ea"/>
        <a:cs typeface="Arial" charset="0"/>
      </a:defRPr>
    </a:lvl5pPr>
    <a:lvl6pPr marL="2286000" algn="l" defTabSz="914400" rtl="0" eaLnBrk="1" latinLnBrk="0" hangingPunct="1">
      <a:defRPr kern="1200">
        <a:solidFill>
          <a:schemeClr val="tx1"/>
        </a:solidFill>
        <a:latin typeface="Calibri" pitchFamily="34" charset="0"/>
        <a:ea typeface="+mn-ea"/>
        <a:cs typeface="Arial" charset="0"/>
      </a:defRPr>
    </a:lvl6pPr>
    <a:lvl7pPr marL="2743200" algn="l" defTabSz="914400" rtl="0" eaLnBrk="1" latinLnBrk="0" hangingPunct="1">
      <a:defRPr kern="1200">
        <a:solidFill>
          <a:schemeClr val="tx1"/>
        </a:solidFill>
        <a:latin typeface="Calibri" pitchFamily="34" charset="0"/>
        <a:ea typeface="+mn-ea"/>
        <a:cs typeface="Arial" charset="0"/>
      </a:defRPr>
    </a:lvl7pPr>
    <a:lvl8pPr marL="3200400" algn="l" defTabSz="914400" rtl="0" eaLnBrk="1" latinLnBrk="0" hangingPunct="1">
      <a:defRPr kern="1200">
        <a:solidFill>
          <a:schemeClr val="tx1"/>
        </a:solidFill>
        <a:latin typeface="Calibri" pitchFamily="34" charset="0"/>
        <a:ea typeface="+mn-ea"/>
        <a:cs typeface="Arial" charset="0"/>
      </a:defRPr>
    </a:lvl8pPr>
    <a:lvl9pPr marL="3657600" algn="l" defTabSz="914400" rtl="0" eaLnBrk="1" latinLnBrk="0" hangingPunct="1">
      <a:defRPr kern="1200">
        <a:solidFill>
          <a:schemeClr val="tx1"/>
        </a:solidFill>
        <a:latin typeface="Calibri" pitchFamily="34" charset="0"/>
        <a:ea typeface="+mn-ea"/>
        <a:cs typeface="Arial" charset="0"/>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webPr encoding="windows-1252"/>
  <p:showPr showNarration="1">
    <p:present/>
    <p:sldAll/>
    <p:penClr>
      <a:srgbClr val="FF0000"/>
    </p:penClr>
  </p:showPr>
  <p:clrMru>
    <a:srgbClr val="CCFFCC"/>
    <a:srgbClr val="076F09"/>
    <a:srgbClr val="09890C"/>
    <a:srgbClr val="5DF561"/>
  </p:clrMru>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6618" autoAdjust="0"/>
    <p:restoredTop sz="95636" autoAdjust="0"/>
  </p:normalViewPr>
  <p:slideViewPr>
    <p:cSldViewPr>
      <p:cViewPr varScale="1">
        <p:scale>
          <a:sx n="72" d="100"/>
          <a:sy n="72" d="100"/>
        </p:scale>
        <p:origin x="-1284" y="-96"/>
      </p:cViewPr>
      <p:guideLst>
        <p:guide orient="horz" pos="2160"/>
        <p:guide pos="288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notesMaster" Target="notesMasters/notesMaster1.xml"/><Relationship Id="rId3" Type="http://schemas.openxmlformats.org/officeDocument/2006/relationships/slide" Target="slides/slide1.xml"/><Relationship Id="rId21"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presProps" Target="pres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7F066298-914D-437D-8099-DB5D6E3DCB02}" type="datetimeFigureOut">
              <a:rPr lang="en-IN"/>
              <a:pPr>
                <a:defRPr/>
              </a:pPr>
              <a:t>28-10-2024</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IN" noProof="0" smtClean="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endParaRPr lang="en-IN" noProof="0" smtClean="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B7C9AE90-80C0-43A1-BABF-CF59DA47B92D}" type="slidenum">
              <a:rPr lang="en-IN" altLang="en-US"/>
              <a:pPr>
                <a:defRPr/>
              </a:pPr>
              <a:t>‹#›</a:t>
            </a:fld>
            <a:endParaRPr lang="en-I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lvl1pPr>
              <a:defRPr/>
            </a:lvl1pPr>
          </a:lstStyle>
          <a:p>
            <a:pPr>
              <a:defRPr/>
            </a:pPr>
            <a:fld id="{FE10CE72-AD9B-47A9-AC10-95736898B677}" type="datetime1">
              <a:rPr lang="en-IN"/>
              <a:pPr>
                <a:defRPr/>
              </a:pPr>
              <a:t>28-10-2024</a:t>
            </a:fld>
            <a:endParaRPr lang="en-IN"/>
          </a:p>
        </p:txBody>
      </p:sp>
      <p:sp>
        <p:nvSpPr>
          <p:cNvPr id="5" name="Footer Placeholder 4"/>
          <p:cNvSpPr>
            <a:spLocks noGrp="1"/>
          </p:cNvSpPr>
          <p:nvPr>
            <p:ph type="ftr" sz="quarter" idx="11"/>
          </p:nvPr>
        </p:nvSpPr>
        <p:spPr/>
        <p:txBody>
          <a:bodyPr/>
          <a:lstStyle>
            <a:lvl1pPr>
              <a:defRPr/>
            </a:lvl1pPr>
          </a:lstStyle>
          <a:p>
            <a:pPr>
              <a:defRPr/>
            </a:pPr>
            <a:endParaRPr lang="en-IN"/>
          </a:p>
        </p:txBody>
      </p:sp>
      <p:sp>
        <p:nvSpPr>
          <p:cNvPr id="6" name="Slide Number Placeholder 5"/>
          <p:cNvSpPr>
            <a:spLocks noGrp="1"/>
          </p:cNvSpPr>
          <p:nvPr>
            <p:ph type="sldNum" sz="quarter" idx="12"/>
          </p:nvPr>
        </p:nvSpPr>
        <p:spPr/>
        <p:txBody>
          <a:bodyPr/>
          <a:lstStyle>
            <a:lvl1pPr>
              <a:defRPr/>
            </a:lvl1pPr>
          </a:lstStyle>
          <a:p>
            <a:pPr>
              <a:defRPr/>
            </a:pPr>
            <a:fld id="{941F514C-ADA4-4722-BC52-87EDF9397564}" type="slidenum">
              <a:rPr lang="en-IN" altLang="en-US"/>
              <a:pPr>
                <a:defRPr/>
              </a:pPr>
              <a:t>‹#›</a:t>
            </a:fld>
            <a:endParaRPr lang="en-I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lvl1pPr>
              <a:defRPr/>
            </a:lvl1pPr>
          </a:lstStyle>
          <a:p>
            <a:pPr>
              <a:defRPr/>
            </a:pPr>
            <a:fld id="{BEE945E5-D1E0-485B-80FE-6E3FFFF03A54}" type="datetime1">
              <a:rPr lang="en-IN"/>
              <a:pPr>
                <a:defRPr/>
              </a:pPr>
              <a:t>28-10-2024</a:t>
            </a:fld>
            <a:endParaRPr lang="en-IN"/>
          </a:p>
        </p:txBody>
      </p:sp>
      <p:sp>
        <p:nvSpPr>
          <p:cNvPr id="5" name="Footer Placeholder 4"/>
          <p:cNvSpPr>
            <a:spLocks noGrp="1"/>
          </p:cNvSpPr>
          <p:nvPr>
            <p:ph type="ftr" sz="quarter" idx="11"/>
          </p:nvPr>
        </p:nvSpPr>
        <p:spPr/>
        <p:txBody>
          <a:bodyPr/>
          <a:lstStyle>
            <a:lvl1pPr>
              <a:defRPr/>
            </a:lvl1pPr>
          </a:lstStyle>
          <a:p>
            <a:pPr>
              <a:defRPr/>
            </a:pPr>
            <a:endParaRPr lang="en-IN"/>
          </a:p>
        </p:txBody>
      </p:sp>
      <p:sp>
        <p:nvSpPr>
          <p:cNvPr id="6" name="Slide Number Placeholder 5"/>
          <p:cNvSpPr>
            <a:spLocks noGrp="1"/>
          </p:cNvSpPr>
          <p:nvPr>
            <p:ph type="sldNum" sz="quarter" idx="12"/>
          </p:nvPr>
        </p:nvSpPr>
        <p:spPr/>
        <p:txBody>
          <a:bodyPr/>
          <a:lstStyle>
            <a:lvl1pPr>
              <a:defRPr/>
            </a:lvl1pPr>
          </a:lstStyle>
          <a:p>
            <a:pPr>
              <a:defRPr/>
            </a:pPr>
            <a:fld id="{F0738450-70D8-4DD6-ADD5-DF995D6A1100}" type="slidenum">
              <a:rPr lang="en-IN" altLang="en-US"/>
              <a:pPr>
                <a:defRPr/>
              </a:pPr>
              <a:t>‹#›</a:t>
            </a:fld>
            <a:endParaRPr lang="en-I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pPr>
              <a:defRPr/>
            </a:pPr>
            <a:fld id="{55C2FC61-01E1-40EE-8A69-0A2516FA9374}" type="datetime1">
              <a:rPr lang="en-IN"/>
              <a:pPr>
                <a:defRPr/>
              </a:pPr>
              <a:t>28-10-2024</a:t>
            </a:fld>
            <a:endParaRPr lang="en-IN"/>
          </a:p>
        </p:txBody>
      </p:sp>
      <p:sp>
        <p:nvSpPr>
          <p:cNvPr id="5" name="Footer Placeholder 4"/>
          <p:cNvSpPr>
            <a:spLocks noGrp="1"/>
          </p:cNvSpPr>
          <p:nvPr>
            <p:ph type="ftr" sz="quarter" idx="11"/>
          </p:nvPr>
        </p:nvSpPr>
        <p:spPr/>
        <p:txBody>
          <a:bodyPr/>
          <a:lstStyle>
            <a:lvl1pPr>
              <a:defRPr/>
            </a:lvl1pPr>
          </a:lstStyle>
          <a:p>
            <a:pPr>
              <a:defRPr/>
            </a:pPr>
            <a:endParaRPr lang="en-IN"/>
          </a:p>
        </p:txBody>
      </p:sp>
      <p:sp>
        <p:nvSpPr>
          <p:cNvPr id="6" name="Slide Number Placeholder 5"/>
          <p:cNvSpPr>
            <a:spLocks noGrp="1"/>
          </p:cNvSpPr>
          <p:nvPr>
            <p:ph type="sldNum" sz="quarter" idx="12"/>
          </p:nvPr>
        </p:nvSpPr>
        <p:spPr/>
        <p:txBody>
          <a:bodyPr/>
          <a:lstStyle>
            <a:lvl1pPr>
              <a:defRPr/>
            </a:lvl1pPr>
          </a:lstStyle>
          <a:p>
            <a:pPr>
              <a:defRPr/>
            </a:pPr>
            <a:fld id="{8486BE56-FC8E-476D-B079-843F2320ED89}" type="slidenum">
              <a:rPr lang="en-IN" altLang="en-US"/>
              <a:pPr>
                <a:defRPr/>
              </a:pPr>
              <a:t>‹#›</a:t>
            </a:fld>
            <a:endParaRPr lang="en-I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3"/>
          <p:cNvSpPr>
            <a:spLocks noGrp="1"/>
          </p:cNvSpPr>
          <p:nvPr>
            <p:ph type="dt" sz="half" idx="10"/>
          </p:nvPr>
        </p:nvSpPr>
        <p:spPr/>
        <p:txBody>
          <a:bodyPr/>
          <a:lstStyle>
            <a:lvl1pPr>
              <a:defRPr/>
            </a:lvl1pPr>
          </a:lstStyle>
          <a:p>
            <a:pPr>
              <a:defRPr/>
            </a:pPr>
            <a:fld id="{65BD7820-479A-4539-B7BE-5918C08C0405}" type="datetime1">
              <a:rPr lang="en-IN"/>
              <a:pPr>
                <a:defRPr/>
              </a:pPr>
              <a:t>28-10-2024</a:t>
            </a:fld>
            <a:endParaRPr lang="en-IN"/>
          </a:p>
        </p:txBody>
      </p:sp>
      <p:sp>
        <p:nvSpPr>
          <p:cNvPr id="6" name="Footer Placeholder 4"/>
          <p:cNvSpPr>
            <a:spLocks noGrp="1"/>
          </p:cNvSpPr>
          <p:nvPr>
            <p:ph type="ftr" sz="quarter" idx="11"/>
          </p:nvPr>
        </p:nvSpPr>
        <p:spPr/>
        <p:txBody>
          <a:bodyPr/>
          <a:lstStyle>
            <a:lvl1pPr>
              <a:defRPr/>
            </a:lvl1pPr>
          </a:lstStyle>
          <a:p>
            <a:pPr>
              <a:defRPr/>
            </a:pPr>
            <a:endParaRPr lang="en-IN"/>
          </a:p>
        </p:txBody>
      </p:sp>
      <p:sp>
        <p:nvSpPr>
          <p:cNvPr id="7" name="Slide Number Placeholder 5"/>
          <p:cNvSpPr>
            <a:spLocks noGrp="1"/>
          </p:cNvSpPr>
          <p:nvPr>
            <p:ph type="sldNum" sz="quarter" idx="12"/>
          </p:nvPr>
        </p:nvSpPr>
        <p:spPr/>
        <p:txBody>
          <a:bodyPr/>
          <a:lstStyle>
            <a:lvl1pPr>
              <a:defRPr/>
            </a:lvl1pPr>
          </a:lstStyle>
          <a:p>
            <a:pPr>
              <a:defRPr/>
            </a:pPr>
            <a:fld id="{F06E9C69-4BD6-4AD1-969A-856D09F15E50}" type="slidenum">
              <a:rPr lang="en-IN" altLang="en-US"/>
              <a:pPr>
                <a:defRPr/>
              </a:pPr>
              <a:t>‹#›</a:t>
            </a:fld>
            <a:endParaRPr lang="en-I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3"/>
          <p:cNvSpPr>
            <a:spLocks noGrp="1"/>
          </p:cNvSpPr>
          <p:nvPr>
            <p:ph type="dt" sz="half" idx="10"/>
          </p:nvPr>
        </p:nvSpPr>
        <p:spPr/>
        <p:txBody>
          <a:bodyPr/>
          <a:lstStyle>
            <a:lvl1pPr>
              <a:defRPr/>
            </a:lvl1pPr>
          </a:lstStyle>
          <a:p>
            <a:pPr>
              <a:defRPr/>
            </a:pPr>
            <a:fld id="{644F8FA7-1219-4D48-BF3D-0E5C89A7AB86}" type="datetime1">
              <a:rPr lang="en-IN"/>
              <a:pPr>
                <a:defRPr/>
              </a:pPr>
              <a:t>28-10-2024</a:t>
            </a:fld>
            <a:endParaRPr lang="en-IN"/>
          </a:p>
        </p:txBody>
      </p:sp>
      <p:sp>
        <p:nvSpPr>
          <p:cNvPr id="8" name="Footer Placeholder 4"/>
          <p:cNvSpPr>
            <a:spLocks noGrp="1"/>
          </p:cNvSpPr>
          <p:nvPr>
            <p:ph type="ftr" sz="quarter" idx="11"/>
          </p:nvPr>
        </p:nvSpPr>
        <p:spPr/>
        <p:txBody>
          <a:bodyPr/>
          <a:lstStyle>
            <a:lvl1pPr>
              <a:defRPr/>
            </a:lvl1pPr>
          </a:lstStyle>
          <a:p>
            <a:pPr>
              <a:defRPr/>
            </a:pPr>
            <a:endParaRPr lang="en-IN"/>
          </a:p>
        </p:txBody>
      </p:sp>
      <p:sp>
        <p:nvSpPr>
          <p:cNvPr id="9" name="Slide Number Placeholder 5"/>
          <p:cNvSpPr>
            <a:spLocks noGrp="1"/>
          </p:cNvSpPr>
          <p:nvPr>
            <p:ph type="sldNum" sz="quarter" idx="12"/>
          </p:nvPr>
        </p:nvSpPr>
        <p:spPr/>
        <p:txBody>
          <a:bodyPr/>
          <a:lstStyle>
            <a:lvl1pPr>
              <a:defRPr/>
            </a:lvl1pPr>
          </a:lstStyle>
          <a:p>
            <a:pPr>
              <a:defRPr/>
            </a:pPr>
            <a:fld id="{ED66787E-4BF1-42F7-AF24-D2FAC95338A4}" type="slidenum">
              <a:rPr lang="en-IN" altLang="en-US"/>
              <a:pPr>
                <a:defRPr/>
              </a:pPr>
              <a:t>‹#›</a:t>
            </a:fld>
            <a:endParaRPr lang="en-I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3"/>
          <p:cNvSpPr>
            <a:spLocks noGrp="1"/>
          </p:cNvSpPr>
          <p:nvPr>
            <p:ph type="dt" sz="half" idx="10"/>
          </p:nvPr>
        </p:nvSpPr>
        <p:spPr/>
        <p:txBody>
          <a:bodyPr/>
          <a:lstStyle>
            <a:lvl1pPr>
              <a:defRPr/>
            </a:lvl1pPr>
          </a:lstStyle>
          <a:p>
            <a:pPr>
              <a:defRPr/>
            </a:pPr>
            <a:fld id="{C0BF3E5D-A80F-46E5-9A98-4EC137294881}" type="datetime1">
              <a:rPr lang="en-IN"/>
              <a:pPr>
                <a:defRPr/>
              </a:pPr>
              <a:t>28-10-2024</a:t>
            </a:fld>
            <a:endParaRPr lang="en-IN"/>
          </a:p>
        </p:txBody>
      </p:sp>
      <p:sp>
        <p:nvSpPr>
          <p:cNvPr id="4" name="Footer Placeholder 4"/>
          <p:cNvSpPr>
            <a:spLocks noGrp="1"/>
          </p:cNvSpPr>
          <p:nvPr>
            <p:ph type="ftr" sz="quarter" idx="11"/>
          </p:nvPr>
        </p:nvSpPr>
        <p:spPr/>
        <p:txBody>
          <a:bodyPr/>
          <a:lstStyle>
            <a:lvl1pPr>
              <a:defRPr/>
            </a:lvl1pPr>
          </a:lstStyle>
          <a:p>
            <a:pPr>
              <a:defRPr/>
            </a:pPr>
            <a:endParaRPr lang="en-IN"/>
          </a:p>
        </p:txBody>
      </p:sp>
      <p:sp>
        <p:nvSpPr>
          <p:cNvPr id="5" name="Slide Number Placeholder 5"/>
          <p:cNvSpPr>
            <a:spLocks noGrp="1"/>
          </p:cNvSpPr>
          <p:nvPr>
            <p:ph type="sldNum" sz="quarter" idx="12"/>
          </p:nvPr>
        </p:nvSpPr>
        <p:spPr/>
        <p:txBody>
          <a:bodyPr/>
          <a:lstStyle>
            <a:lvl1pPr>
              <a:defRPr/>
            </a:lvl1pPr>
          </a:lstStyle>
          <a:p>
            <a:pPr>
              <a:defRPr/>
            </a:pPr>
            <a:fld id="{9D2E08C8-CBCF-48F6-B00F-5257351B6449}" type="slidenum">
              <a:rPr lang="en-IN" altLang="en-US"/>
              <a:pPr>
                <a:defRPr/>
              </a:pPr>
              <a:t>‹#›</a:t>
            </a:fld>
            <a:endParaRPr lang="en-I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342777F7-3E9B-4106-8B5F-E4ED86F2136B}" type="datetime1">
              <a:rPr lang="en-IN"/>
              <a:pPr>
                <a:defRPr/>
              </a:pPr>
              <a:t>28-10-2024</a:t>
            </a:fld>
            <a:endParaRPr lang="en-IN"/>
          </a:p>
        </p:txBody>
      </p:sp>
      <p:sp>
        <p:nvSpPr>
          <p:cNvPr id="3" name="Footer Placeholder 4"/>
          <p:cNvSpPr>
            <a:spLocks noGrp="1"/>
          </p:cNvSpPr>
          <p:nvPr>
            <p:ph type="ftr" sz="quarter" idx="11"/>
          </p:nvPr>
        </p:nvSpPr>
        <p:spPr/>
        <p:txBody>
          <a:bodyPr/>
          <a:lstStyle>
            <a:lvl1pPr>
              <a:defRPr/>
            </a:lvl1pPr>
          </a:lstStyle>
          <a:p>
            <a:pPr>
              <a:defRPr/>
            </a:pPr>
            <a:endParaRPr lang="en-IN"/>
          </a:p>
        </p:txBody>
      </p:sp>
      <p:sp>
        <p:nvSpPr>
          <p:cNvPr id="4" name="Slide Number Placeholder 5"/>
          <p:cNvSpPr>
            <a:spLocks noGrp="1"/>
          </p:cNvSpPr>
          <p:nvPr>
            <p:ph type="sldNum" sz="quarter" idx="12"/>
          </p:nvPr>
        </p:nvSpPr>
        <p:spPr/>
        <p:txBody>
          <a:bodyPr/>
          <a:lstStyle>
            <a:lvl1pPr>
              <a:defRPr/>
            </a:lvl1pPr>
          </a:lstStyle>
          <a:p>
            <a:pPr>
              <a:defRPr/>
            </a:pPr>
            <a:fld id="{49A513DB-2AF1-46C8-9D03-C0522DDE71C4}" type="slidenum">
              <a:rPr lang="en-IN" altLang="en-US"/>
              <a:pPr>
                <a:defRPr/>
              </a:pPr>
              <a:t>‹#›</a:t>
            </a:fld>
            <a:endParaRPr lang="en-I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56C37959-BEC9-4A77-9A44-EA54ED31EBD7}" type="datetime1">
              <a:rPr lang="en-IN"/>
              <a:pPr>
                <a:defRPr/>
              </a:pPr>
              <a:t>28-10-2024</a:t>
            </a:fld>
            <a:endParaRPr lang="en-IN"/>
          </a:p>
        </p:txBody>
      </p:sp>
      <p:sp>
        <p:nvSpPr>
          <p:cNvPr id="6" name="Footer Placeholder 4"/>
          <p:cNvSpPr>
            <a:spLocks noGrp="1"/>
          </p:cNvSpPr>
          <p:nvPr>
            <p:ph type="ftr" sz="quarter" idx="11"/>
          </p:nvPr>
        </p:nvSpPr>
        <p:spPr/>
        <p:txBody>
          <a:bodyPr/>
          <a:lstStyle>
            <a:lvl1pPr>
              <a:defRPr/>
            </a:lvl1pPr>
          </a:lstStyle>
          <a:p>
            <a:pPr>
              <a:defRPr/>
            </a:pPr>
            <a:endParaRPr lang="en-IN"/>
          </a:p>
        </p:txBody>
      </p:sp>
      <p:sp>
        <p:nvSpPr>
          <p:cNvPr id="7" name="Slide Number Placeholder 5"/>
          <p:cNvSpPr>
            <a:spLocks noGrp="1"/>
          </p:cNvSpPr>
          <p:nvPr>
            <p:ph type="sldNum" sz="quarter" idx="12"/>
          </p:nvPr>
        </p:nvSpPr>
        <p:spPr/>
        <p:txBody>
          <a:bodyPr/>
          <a:lstStyle>
            <a:lvl1pPr>
              <a:defRPr/>
            </a:lvl1pPr>
          </a:lstStyle>
          <a:p>
            <a:pPr>
              <a:defRPr/>
            </a:pPr>
            <a:fld id="{DBDD3A2D-0FB5-4C0D-ACEF-1F7C85D53450}" type="slidenum">
              <a:rPr lang="en-IN" altLang="en-US"/>
              <a:pPr>
                <a:defRPr/>
              </a:pPr>
              <a:t>‹#›</a:t>
            </a:fld>
            <a:endParaRPr lang="en-I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smtClean="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3"/>
          <p:cNvSpPr>
            <a:spLocks noGrp="1"/>
          </p:cNvSpPr>
          <p:nvPr>
            <p:ph type="dt" sz="half" idx="10"/>
          </p:nvPr>
        </p:nvSpPr>
        <p:spPr/>
        <p:txBody>
          <a:bodyPr/>
          <a:lstStyle>
            <a:lvl1pPr>
              <a:defRPr/>
            </a:lvl1pPr>
          </a:lstStyle>
          <a:p>
            <a:pPr>
              <a:defRPr/>
            </a:pPr>
            <a:fld id="{9BCF413A-628A-4CFB-956D-911C0CAE42D1}" type="datetime1">
              <a:rPr lang="en-IN"/>
              <a:pPr>
                <a:defRPr/>
              </a:pPr>
              <a:t>28-10-2024</a:t>
            </a:fld>
            <a:endParaRPr lang="en-IN"/>
          </a:p>
        </p:txBody>
      </p:sp>
      <p:sp>
        <p:nvSpPr>
          <p:cNvPr id="6" name="Footer Placeholder 4"/>
          <p:cNvSpPr>
            <a:spLocks noGrp="1"/>
          </p:cNvSpPr>
          <p:nvPr>
            <p:ph type="ftr" sz="quarter" idx="11"/>
          </p:nvPr>
        </p:nvSpPr>
        <p:spPr/>
        <p:txBody>
          <a:bodyPr/>
          <a:lstStyle>
            <a:lvl1pPr>
              <a:defRPr/>
            </a:lvl1pPr>
          </a:lstStyle>
          <a:p>
            <a:pPr>
              <a:defRPr/>
            </a:pPr>
            <a:endParaRPr lang="en-IN"/>
          </a:p>
        </p:txBody>
      </p:sp>
      <p:sp>
        <p:nvSpPr>
          <p:cNvPr id="7" name="Slide Number Placeholder 5"/>
          <p:cNvSpPr>
            <a:spLocks noGrp="1"/>
          </p:cNvSpPr>
          <p:nvPr>
            <p:ph type="sldNum" sz="quarter" idx="12"/>
          </p:nvPr>
        </p:nvSpPr>
        <p:spPr/>
        <p:txBody>
          <a:bodyPr/>
          <a:lstStyle>
            <a:lvl1pPr>
              <a:defRPr/>
            </a:lvl1pPr>
          </a:lstStyle>
          <a:p>
            <a:pPr>
              <a:defRPr/>
            </a:pPr>
            <a:fld id="{676FCB61-6135-4FB8-AD87-3BF5128AF947}" type="slidenum">
              <a:rPr lang="en-IN" altLang="en-US"/>
              <a:pPr>
                <a:defRPr/>
              </a:pPr>
              <a:t>‹#›</a:t>
            </a:fld>
            <a:endParaRPr lang="en-I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lvl1pPr>
              <a:defRPr/>
            </a:lvl1pPr>
          </a:lstStyle>
          <a:p>
            <a:pPr>
              <a:defRPr/>
            </a:pPr>
            <a:fld id="{FE55CF0F-0978-438F-897C-9A904070AFC1}" type="datetime1">
              <a:rPr lang="en-IN"/>
              <a:pPr>
                <a:defRPr/>
              </a:pPr>
              <a:t>28-10-2024</a:t>
            </a:fld>
            <a:endParaRPr lang="en-IN"/>
          </a:p>
        </p:txBody>
      </p:sp>
      <p:sp>
        <p:nvSpPr>
          <p:cNvPr id="5" name="Footer Placeholder 4"/>
          <p:cNvSpPr>
            <a:spLocks noGrp="1"/>
          </p:cNvSpPr>
          <p:nvPr>
            <p:ph type="ftr" sz="quarter" idx="11"/>
          </p:nvPr>
        </p:nvSpPr>
        <p:spPr/>
        <p:txBody>
          <a:bodyPr/>
          <a:lstStyle>
            <a:lvl1pPr>
              <a:defRPr/>
            </a:lvl1pPr>
          </a:lstStyle>
          <a:p>
            <a:pPr>
              <a:defRPr/>
            </a:pPr>
            <a:endParaRPr lang="en-IN"/>
          </a:p>
        </p:txBody>
      </p:sp>
      <p:sp>
        <p:nvSpPr>
          <p:cNvPr id="6" name="Slide Number Placeholder 5"/>
          <p:cNvSpPr>
            <a:spLocks noGrp="1"/>
          </p:cNvSpPr>
          <p:nvPr>
            <p:ph type="sldNum" sz="quarter" idx="12"/>
          </p:nvPr>
        </p:nvSpPr>
        <p:spPr/>
        <p:txBody>
          <a:bodyPr/>
          <a:lstStyle>
            <a:lvl1pPr>
              <a:defRPr/>
            </a:lvl1pPr>
          </a:lstStyle>
          <a:p>
            <a:pPr>
              <a:defRPr/>
            </a:pPr>
            <a:fld id="{258B6CD8-5E74-4CE8-976D-6A4F70566D94}" type="slidenum">
              <a:rPr lang="en-IN" altLang="en-US"/>
              <a:pPr>
                <a:defRPr/>
              </a:pPr>
              <a:t>‹#›</a:t>
            </a:fld>
            <a:endParaRPr lang="en-I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lvl1pPr>
              <a:defRPr/>
            </a:lvl1pPr>
          </a:lstStyle>
          <a:p>
            <a:pPr>
              <a:defRPr/>
            </a:pPr>
            <a:fld id="{9AFC7822-046B-4F89-B5DD-7D15ED48DE31}" type="datetime1">
              <a:rPr lang="en-IN"/>
              <a:pPr>
                <a:defRPr/>
              </a:pPr>
              <a:t>28-10-2024</a:t>
            </a:fld>
            <a:endParaRPr lang="en-IN"/>
          </a:p>
        </p:txBody>
      </p:sp>
      <p:sp>
        <p:nvSpPr>
          <p:cNvPr id="5" name="Footer Placeholder 4"/>
          <p:cNvSpPr>
            <a:spLocks noGrp="1"/>
          </p:cNvSpPr>
          <p:nvPr>
            <p:ph type="ftr" sz="quarter" idx="11"/>
          </p:nvPr>
        </p:nvSpPr>
        <p:spPr/>
        <p:txBody>
          <a:bodyPr/>
          <a:lstStyle>
            <a:lvl1pPr>
              <a:defRPr/>
            </a:lvl1pPr>
          </a:lstStyle>
          <a:p>
            <a:pPr>
              <a:defRPr/>
            </a:pPr>
            <a:endParaRPr lang="en-IN"/>
          </a:p>
        </p:txBody>
      </p:sp>
      <p:sp>
        <p:nvSpPr>
          <p:cNvPr id="6" name="Slide Number Placeholder 5"/>
          <p:cNvSpPr>
            <a:spLocks noGrp="1"/>
          </p:cNvSpPr>
          <p:nvPr>
            <p:ph type="sldNum" sz="quarter" idx="12"/>
          </p:nvPr>
        </p:nvSpPr>
        <p:spPr/>
        <p:txBody>
          <a:bodyPr/>
          <a:lstStyle>
            <a:lvl1pPr>
              <a:defRPr/>
            </a:lvl1pPr>
          </a:lstStyle>
          <a:p>
            <a:pPr>
              <a:defRPr/>
            </a:pPr>
            <a:fld id="{57AB9188-E8E7-4197-9F96-00586911783F}" type="slidenum">
              <a:rPr lang="en-IN" altLang="en-US"/>
              <a:pPr>
                <a:defRPr/>
              </a:pPr>
              <a:t>‹#›</a:t>
            </a:fld>
            <a:endParaRPr lang="en-I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pPr>
              <a:defRPr/>
            </a:pPr>
            <a:fld id="{58A50A3F-FC4D-4467-876C-97AFAD9EFA51}" type="datetime1">
              <a:rPr lang="en-IN"/>
              <a:pPr>
                <a:defRPr/>
              </a:pPr>
              <a:t>28-10-2024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D6BE004C-09A5-44B6-B797-B53822199DAD}" type="slidenum">
              <a:rPr lang="en-US" altLang="en-US"/>
              <a:pPr>
                <a:defRPr/>
              </a:pPr>
              <a:t>‹#›</a:t>
            </a:fld>
            <a:endParaRPr lang="en-US"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8DB476A4-0D42-4A88-BF7E-AC2A5300CDCA}" type="datetime1">
              <a:rPr lang="en-IN"/>
              <a:pPr>
                <a:defRPr/>
              </a:pPr>
              <a:t>28-10-2024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DE1B7A2-B244-416E-ADC6-36FF0201AD44}" type="slidenum">
              <a:rPr lang="en-US" altLang="en-US"/>
              <a:pPr>
                <a:defRPr/>
              </a:pPr>
              <a:t>‹#›</a:t>
            </a:fld>
            <a:endParaRPr lang="en-US"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AD4E8B07-7545-4C4A-AC0A-D004FA91E60F}" type="datetime1">
              <a:rPr lang="en-IN"/>
              <a:pPr>
                <a:defRPr/>
              </a:pPr>
              <a:t>28-10-2024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73CB9983-D52D-40BE-9700-A4D2BB717F3E}" type="slidenum">
              <a:rPr lang="en-US" altLang="en-US"/>
              <a:pPr>
                <a:defRPr/>
              </a:pPr>
              <a:t>‹#›</a:t>
            </a:fld>
            <a:endParaRPr lang="en-US"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pPr>
              <a:defRPr/>
            </a:pPr>
            <a:fld id="{1DA3DBD8-2C57-4457-8B87-E1D8DF47EF33}" type="datetime1">
              <a:rPr lang="en-IN"/>
              <a:pPr>
                <a:defRPr/>
              </a:pPr>
              <a:t>28-10-2024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7D6B2B3C-1112-40E5-95C4-A16241E82F36}" type="slidenum">
              <a:rPr lang="en-US" altLang="en-US"/>
              <a:pPr>
                <a:defRPr/>
              </a:pPr>
              <a:t>‹#›</a:t>
            </a:fld>
            <a:endParaRPr lang="en-US"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pPr>
              <a:defRPr/>
            </a:pPr>
            <a:fld id="{9D3A3713-1D93-4E9A-A656-7C91BF493B26}" type="datetime1">
              <a:rPr lang="en-IN"/>
              <a:pPr>
                <a:defRPr/>
              </a:pPr>
              <a:t>28-10-2024</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B5A5FE09-2820-4ED3-BE2E-6005B798C68B}" type="slidenum">
              <a:rPr lang="en-US" altLang="en-US"/>
              <a:pPr>
                <a:defRPr/>
              </a:pPr>
              <a:t>‹#›</a:t>
            </a:fld>
            <a:endParaRPr lang="en-US"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73B97F6F-677A-4B9E-B7A6-BE5B88E605D5}" type="datetime1">
              <a:rPr lang="en-IN"/>
              <a:pPr>
                <a:defRPr/>
              </a:pPr>
              <a:t>28-10-2024</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31B6245A-8887-4A11-A1CF-57CDA6423241}" type="slidenum">
              <a:rPr lang="en-US" altLang="en-US"/>
              <a:pPr>
                <a:defRPr/>
              </a:pPr>
              <a:t>‹#›</a:t>
            </a:fld>
            <a:endParaRPr lang="en-US"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84C286A8-FD94-4C4F-A642-5F09A395A42B}" type="datetime1">
              <a:rPr lang="en-IN"/>
              <a:pPr>
                <a:defRPr/>
              </a:pPr>
              <a:t>28-10-2024</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68869733-2D55-45F5-AD42-777424F96348}" type="slidenum">
              <a:rPr lang="en-US" altLang="en-US"/>
              <a:pPr>
                <a:defRPr/>
              </a:pPr>
              <a:t>‹#›</a:t>
            </a:fld>
            <a:endParaRPr lang="en-US"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877FF4C5-1E19-4001-948C-05E093A6A21A}" type="datetime1">
              <a:rPr lang="en-IN"/>
              <a:pPr>
                <a:defRPr/>
              </a:pPr>
              <a:t>28-10-2024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D91B637A-F049-4F1D-860A-BAFB1408B67A}" type="slidenum">
              <a:rPr lang="en-US" altLang="en-US"/>
              <a:pPr>
                <a:defRPr/>
              </a:pPr>
              <a:t>‹#›</a:t>
            </a:fld>
            <a:endParaRPr lang="en-US"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pPr>
              <a:defRPr/>
            </a:pPr>
            <a:fld id="{C839C7ED-6081-4EB0-B0A5-55579057977F}" type="datetime1">
              <a:rPr lang="en-IN"/>
              <a:pPr>
                <a:defRPr/>
              </a:pPr>
              <a:t>28-10-2024</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B2E16AA5-567B-458C-BB36-6661042B9724}" type="slidenum">
              <a:rPr lang="en-US" altLang="en-US"/>
              <a:pPr>
                <a:defRPr/>
              </a:pPr>
              <a:t>‹#›</a:t>
            </a:fld>
            <a:endParaRPr lang="en-US"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DE013E78-66AA-440C-B421-FAD22646BB39}" type="datetime1">
              <a:rPr lang="en-IN"/>
              <a:pPr>
                <a:defRPr/>
              </a:pPr>
              <a:t>28-10-2024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432DCBD6-313D-4BD0-B77D-5A1119074C4C}" type="slidenum">
              <a:rPr lang="en-US" altLang="en-US"/>
              <a:pPr>
                <a:defRPr/>
              </a:pPr>
              <a:t>‹#›</a:t>
            </a:fld>
            <a:endParaRPr lang="en-US"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F69EFE8D-576A-4691-B9E2-DF31CFC3AACA}" type="datetime1">
              <a:rPr lang="en-IN"/>
              <a:pPr>
                <a:defRPr/>
              </a:pPr>
              <a:t>28-10-2024</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6907911F-D5D5-4F7F-894B-7E4C8A7AED89}" type="slidenum">
              <a:rPr lang="en-US" altLang="en-US"/>
              <a:pPr>
                <a:defRPr/>
              </a:pPr>
              <a:t>‹#›</a:t>
            </a:fld>
            <a:endParaRPr lang="en-US"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endParaRPr lang="en-IN" altLang="en-US" smtClean="0"/>
          </a:p>
        </p:txBody>
      </p:sp>
      <p:sp>
        <p:nvSpPr>
          <p:cNvPr id="1027" name="Text Placeholder 2"/>
          <p:cNvSpPr>
            <a:spLocks noGrp="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endParaRPr lang="en-IN" altLang="en-US" smtClean="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cs typeface="+mn-cs"/>
              </a:defRPr>
            </a:lvl1pPr>
          </a:lstStyle>
          <a:p>
            <a:pPr>
              <a:defRPr/>
            </a:pPr>
            <a:fld id="{6B21B3E4-40E1-42D2-9ED1-D71905F13AAC}" type="datetime1">
              <a:rPr lang="en-IN"/>
              <a:pPr>
                <a:defRPr/>
              </a:pPr>
              <a:t>28-10-2024</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cs typeface="+mn-cs"/>
              </a:defRPr>
            </a:lvl1pPr>
          </a:lstStyle>
          <a:p>
            <a:pPr>
              <a:defRPr/>
            </a:pPr>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pPr>
              <a:defRPr/>
            </a:pPr>
            <a:fld id="{25D96359-DAD0-42B9-B47B-8E36FAA174C6}" type="slidenum">
              <a:rPr lang="en-IN" altLang="en-US"/>
              <a:pPr>
                <a:defRPr/>
              </a:pPr>
              <a:t>‹#›</a:t>
            </a:fld>
            <a:endParaRPr lang="en-IN" altLang="en-US"/>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Title Placeholder 1"/>
          <p:cNvSpPr>
            <a:spLocks noGrp="1" noChangeArrowheads="1"/>
          </p:cNvSpPr>
          <p:nvPr>
            <p:ph type="title"/>
          </p:nvPr>
        </p:nvSpPr>
        <p:spPr bwMode="auto">
          <a:xfrm>
            <a:off x="457200" y="274638"/>
            <a:ext cx="82296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ltLang="en-US" smtClean="0"/>
              <a:t>Click to edit Master title style</a:t>
            </a:r>
          </a:p>
        </p:txBody>
      </p:sp>
      <p:sp>
        <p:nvSpPr>
          <p:cNvPr id="2051" name="Text Placeholder 2"/>
          <p:cNvSpPr>
            <a:spLocks noGrp="1" noChangeArrowheads="1"/>
          </p:cNvSpPr>
          <p:nvPr>
            <p:ph type="body" idx="1"/>
          </p:nvPr>
        </p:nvSpPr>
        <p:spPr bwMode="auto">
          <a:xfrm>
            <a:off x="457200" y="1600200"/>
            <a:ext cx="8229600" cy="45259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prstClr val="black">
                    <a:tint val="75000"/>
                  </a:prstClr>
                </a:solidFill>
                <a:latin typeface="+mn-lt"/>
                <a:cs typeface="+mn-cs"/>
              </a:defRPr>
            </a:lvl1pPr>
          </a:lstStyle>
          <a:p>
            <a:pPr>
              <a:defRPr/>
            </a:pPr>
            <a:fld id="{C9AB878B-26F3-49E3-A289-48FAE31A4B72}" type="datetime1">
              <a:rPr lang="en-IN"/>
              <a:pPr>
                <a:defRPr/>
              </a:pPr>
              <a:t>28-10-2024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prstClr val="black">
                    <a:tint val="75000"/>
                  </a:prstClr>
                </a:solidFill>
                <a:latin typeface="+mn-lt"/>
                <a:cs typeface="+mn-cs"/>
              </a:defRPr>
            </a:lvl1pPr>
          </a:lstStyle>
          <a:p>
            <a:pPr>
              <a:defRPr/>
            </a:pPr>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pPr>
              <a:defRPr/>
            </a:pPr>
            <a:fld id="{91629C93-823F-4404-B6AB-1208EED1947F}"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www.kaggle.com/datasets/gunavenkatdoddi/eye-diseases-classification" TargetMode="Externa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3" Type="http://schemas.openxmlformats.org/officeDocument/2006/relationships/hyperlink" Target="https://link.springer.com/article/10.1007/s11042-018-6985-7" TargetMode="External"/><Relationship Id="rId2" Type="http://schemas.openxmlformats.org/officeDocument/2006/relationships/hyperlink" Target="https://link.springer.com/chapter/10.1007/978-981-15-5788-0_64" TargetMode="External"/><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hyperlink" Target="https://link.springer.com/article/10.1007/s11760-020-01815-z" TargetMode="External"/><Relationship Id="rId4" Type="http://schemas.openxmlformats.org/officeDocument/2006/relationships/hyperlink" Target="https://ieeexplore.ieee.org/document/8869883" TargetMode="External"/></Relationships>
</file>

<file path=ppt/slides/_rels/slide15.xml.rels><?xml version="1.0" encoding="UTF-8" standalone="yes"?>
<Relationships xmlns="http://schemas.openxmlformats.org/package/2006/relationships"><Relationship Id="rId3" Type="http://schemas.openxmlformats.org/officeDocument/2006/relationships/hyperlink" Target="https://ieeexplore.ieee.org/document/9780765" TargetMode="External"/><Relationship Id="rId2" Type="http://schemas.openxmlformats.org/officeDocument/2006/relationships/hyperlink" Target="https://ieeexplore.ieee.org/document/9243596" TargetMode="External"/><Relationship Id="rId1" Type="http://schemas.openxmlformats.org/officeDocument/2006/relationships/slideLayout" Target="../slideLayouts/slideLayout2.xml"/><Relationship Id="rId6" Type="http://schemas.openxmlformats.org/officeDocument/2006/relationships/image" Target="../media/image1.png"/><Relationship Id="rId5" Type="http://schemas.openxmlformats.org/officeDocument/2006/relationships/hyperlink" Target="https://typeset.io/papers/dl-cnn-based-approach-with-image-processing-techniques-for-4flzs206lg" TargetMode="External"/><Relationship Id="rId4" Type="http://schemas.openxmlformats.org/officeDocument/2006/relationships/hyperlink" Target="https://ieeexplore.ieee.org/document/9096838"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
          <p:cNvSpPr>
            <a:spLocks noGrp="1" noChangeArrowheads="1"/>
          </p:cNvSpPr>
          <p:nvPr>
            <p:ph type="title"/>
          </p:nvPr>
        </p:nvSpPr>
        <p:spPr>
          <a:xfrm>
            <a:off x="285750" y="0"/>
            <a:ext cx="7786712" cy="1428750"/>
          </a:xfrm>
        </p:spPr>
        <p:txBody>
          <a:bodyPr/>
          <a:lstStyle/>
          <a:p>
            <a:pPr eaLnBrk="1" hangingPunct="1"/>
            <a:r>
              <a:rPr lang="en-IN" altLang="en-US" sz="2800" i="1" dirty="0" smtClean="0">
                <a:latin typeface="Times New Roman" pitchFamily="18" charset="0"/>
                <a:cs typeface="Times New Roman" pitchFamily="18" charset="0"/>
              </a:rPr>
              <a:t>  </a:t>
            </a:r>
            <a:r>
              <a:rPr lang="en-IN" altLang="en-US" sz="1600" i="1" dirty="0" smtClean="0">
                <a:latin typeface="Times New Roman" pitchFamily="18" charset="0"/>
                <a:cs typeface="Times New Roman" pitchFamily="18" charset="0"/>
              </a:rPr>
              <a:t>Review – </a:t>
            </a:r>
            <a:r>
              <a:rPr lang="en-IN" altLang="en-US" sz="1600" i="1" dirty="0" smtClean="0">
                <a:latin typeface="Times New Roman" pitchFamily="18" charset="0"/>
                <a:cs typeface="Times New Roman" pitchFamily="18" charset="0"/>
              </a:rPr>
              <a:t>2 </a:t>
            </a:r>
            <a:r>
              <a:rPr lang="en-IN" altLang="en-US" sz="1600" i="1" dirty="0" smtClean="0">
                <a:latin typeface="Times New Roman" pitchFamily="18" charset="0"/>
                <a:cs typeface="Times New Roman" pitchFamily="18" charset="0"/>
              </a:rPr>
              <a:t>on</a:t>
            </a:r>
            <a:br>
              <a:rPr lang="en-IN" altLang="en-US" sz="1600" i="1" dirty="0" smtClean="0">
                <a:latin typeface="Times New Roman" pitchFamily="18" charset="0"/>
                <a:cs typeface="Times New Roman" pitchFamily="18" charset="0"/>
              </a:rPr>
            </a:br>
            <a:r>
              <a:rPr lang="en-US" altLang="en-US" sz="2800" b="1" u="sng" dirty="0" smtClean="0">
                <a:solidFill>
                  <a:schemeClr val="accent1">
                    <a:lumMod val="50000"/>
                  </a:schemeClr>
                </a:solidFill>
                <a:latin typeface="Times New Roman" pitchFamily="18" charset="0"/>
                <a:cs typeface="Times New Roman" pitchFamily="18" charset="0"/>
              </a:rPr>
              <a:t>Eye Disease prediction using CNN</a:t>
            </a:r>
            <a:r>
              <a:rPr lang="en-US" altLang="en-US" sz="2800" b="1" u="sng" dirty="0" smtClean="0">
                <a:latin typeface="Times New Roman" pitchFamily="18" charset="0"/>
                <a:cs typeface="Times New Roman" pitchFamily="18" charset="0"/>
              </a:rPr>
              <a:t/>
            </a:r>
            <a:br>
              <a:rPr lang="en-US" altLang="en-US" sz="2800" b="1" u="sng" dirty="0" smtClean="0">
                <a:latin typeface="Times New Roman" pitchFamily="18" charset="0"/>
                <a:cs typeface="Times New Roman" pitchFamily="18" charset="0"/>
              </a:rPr>
            </a:br>
            <a:r>
              <a:rPr lang="en-US" altLang="en-US" sz="1600" b="1" i="1" dirty="0" smtClean="0">
                <a:latin typeface="Times New Roman" pitchFamily="18" charset="0"/>
                <a:cs typeface="Times New Roman" pitchFamily="18" charset="0"/>
              </a:rPr>
              <a:t>Domain: Deep Learning </a:t>
            </a:r>
            <a:endParaRPr lang="en-IN" altLang="en-US" sz="1600" b="1" i="1" dirty="0" smtClean="0">
              <a:latin typeface="Times New Roman" pitchFamily="18" charset="0"/>
              <a:cs typeface="Times New Roman" pitchFamily="18" charset="0"/>
            </a:endParaRPr>
          </a:p>
        </p:txBody>
      </p:sp>
      <p:sp>
        <p:nvSpPr>
          <p:cNvPr id="4099" name="TextBox 4"/>
          <p:cNvSpPr txBox="1">
            <a:spLocks noChangeArrowheads="1"/>
          </p:cNvSpPr>
          <p:nvPr/>
        </p:nvSpPr>
        <p:spPr bwMode="auto">
          <a:xfrm>
            <a:off x="2000250" y="2071688"/>
            <a:ext cx="5572125" cy="2062162"/>
          </a:xfrm>
          <a:prstGeom prst="rect">
            <a:avLst/>
          </a:prstGeom>
          <a:noFill/>
          <a:ln w="9525">
            <a:noFill/>
            <a:miter lim="800000"/>
            <a:headEnd/>
            <a:tailEnd/>
          </a:ln>
        </p:spPr>
        <p:txBody>
          <a:bodyPr>
            <a:spAutoFit/>
          </a:bodyPr>
          <a:lstStyle/>
          <a:p>
            <a:pPr algn="ctr" eaLnBrk="1" hangingPunct="1"/>
            <a:r>
              <a:rPr lang="en-IN" altLang="en-US" sz="2000" b="1" dirty="0">
                <a:solidFill>
                  <a:srgbClr val="FF0000"/>
                </a:solidFill>
                <a:latin typeface="Bahnschrift" pitchFamily="34" charset="0"/>
                <a:cs typeface="Times New Roman" pitchFamily="18" charset="0"/>
              </a:rPr>
              <a:t>Presented by the Batch No. : 12</a:t>
            </a:r>
          </a:p>
          <a:p>
            <a:pPr algn="ctr"/>
            <a:r>
              <a:rPr lang="en-US" altLang="en-US" b="1" dirty="0">
                <a:solidFill>
                  <a:srgbClr val="000000"/>
                </a:solidFill>
                <a:latin typeface="Bahnschrift" pitchFamily="34" charset="0"/>
                <a:ea typeface="Arial Unicode MS" pitchFamily="34" charset="-128"/>
                <a:cs typeface="Arial Unicode MS" pitchFamily="34" charset="-128"/>
              </a:rPr>
              <a:t>Rekha</a:t>
            </a:r>
            <a:r>
              <a:rPr lang="en-US" altLang="en-US" dirty="0">
                <a:solidFill>
                  <a:srgbClr val="000000"/>
                </a:solidFill>
                <a:latin typeface="Bahnschrift" pitchFamily="34" charset="0"/>
                <a:ea typeface="Arial Unicode MS" pitchFamily="34" charset="-128"/>
                <a:cs typeface="Arial Unicode MS" pitchFamily="34" charset="-128"/>
              </a:rPr>
              <a:t> </a:t>
            </a:r>
            <a:r>
              <a:rPr lang="en-US" altLang="en-US" b="1" dirty="0">
                <a:solidFill>
                  <a:srgbClr val="000000"/>
                </a:solidFill>
                <a:latin typeface="Bahnschrift" pitchFamily="34" charset="0"/>
                <a:ea typeface="Arial Unicode MS" pitchFamily="34" charset="-128"/>
                <a:cs typeface="Arial Unicode MS" pitchFamily="34" charset="-128"/>
              </a:rPr>
              <a:t>Edala</a:t>
            </a:r>
            <a:r>
              <a:rPr lang="en-US" altLang="en-US" dirty="0">
                <a:solidFill>
                  <a:srgbClr val="000000"/>
                </a:solidFill>
                <a:latin typeface="Bahnschrift" pitchFamily="34" charset="0"/>
                <a:ea typeface="Arial Unicode MS" pitchFamily="34" charset="-128"/>
                <a:cs typeface="Arial Unicode MS" pitchFamily="34" charset="-128"/>
              </a:rPr>
              <a:t>  (200184)</a:t>
            </a:r>
          </a:p>
          <a:p>
            <a:pPr algn="ctr"/>
            <a:r>
              <a:rPr lang="en-US" altLang="en-US" b="1" dirty="0">
                <a:solidFill>
                  <a:srgbClr val="000000"/>
                </a:solidFill>
                <a:latin typeface="Bahnschrift" pitchFamily="34" charset="0"/>
                <a:ea typeface="Arial Unicode MS" pitchFamily="34" charset="-128"/>
                <a:cs typeface="Arial Unicode MS" pitchFamily="34" charset="-128"/>
              </a:rPr>
              <a:t>R.Venkata</a:t>
            </a:r>
            <a:r>
              <a:rPr lang="en-US" altLang="en-US" dirty="0">
                <a:solidFill>
                  <a:srgbClr val="000000"/>
                </a:solidFill>
                <a:latin typeface="Bahnschrift" pitchFamily="34" charset="0"/>
                <a:ea typeface="Arial Unicode MS" pitchFamily="34" charset="-128"/>
                <a:cs typeface="Arial Unicode MS" pitchFamily="34" charset="-128"/>
              </a:rPr>
              <a:t> </a:t>
            </a:r>
            <a:r>
              <a:rPr lang="en-US" altLang="en-US" b="1" dirty="0">
                <a:solidFill>
                  <a:srgbClr val="000000"/>
                </a:solidFill>
                <a:latin typeface="Bahnschrift" pitchFamily="34" charset="0"/>
                <a:ea typeface="Arial Unicode MS" pitchFamily="34" charset="-128"/>
                <a:cs typeface="Arial Unicode MS" pitchFamily="34" charset="-128"/>
              </a:rPr>
              <a:t>Ramana</a:t>
            </a:r>
            <a:r>
              <a:rPr lang="en-US" altLang="en-US" dirty="0">
                <a:solidFill>
                  <a:srgbClr val="000000"/>
                </a:solidFill>
                <a:latin typeface="Bahnschrift" pitchFamily="34" charset="0"/>
                <a:ea typeface="Arial Unicode MS" pitchFamily="34" charset="-128"/>
                <a:cs typeface="Arial Unicode MS" pitchFamily="34" charset="-128"/>
              </a:rPr>
              <a:t> (200052)</a:t>
            </a:r>
          </a:p>
          <a:p>
            <a:pPr algn="ctr"/>
            <a:r>
              <a:rPr lang="en-US" altLang="en-US" b="1" dirty="0">
                <a:solidFill>
                  <a:srgbClr val="000000"/>
                </a:solidFill>
                <a:latin typeface="Bahnschrift" pitchFamily="34" charset="0"/>
                <a:ea typeface="Arial Unicode MS" pitchFamily="34" charset="-128"/>
                <a:cs typeface="Arial Unicode MS" pitchFamily="34" charset="-128"/>
              </a:rPr>
              <a:t>Kavya</a:t>
            </a:r>
            <a:r>
              <a:rPr lang="en-US" altLang="en-US" dirty="0">
                <a:solidFill>
                  <a:srgbClr val="000000"/>
                </a:solidFill>
                <a:latin typeface="Bahnschrift" pitchFamily="34" charset="0"/>
                <a:ea typeface="Arial Unicode MS" pitchFamily="34" charset="-128"/>
                <a:cs typeface="Arial Unicode MS" pitchFamily="34" charset="-128"/>
              </a:rPr>
              <a:t> (200211)</a:t>
            </a:r>
          </a:p>
          <a:p>
            <a:pPr algn="ctr"/>
            <a:r>
              <a:rPr lang="it-IT" altLang="en-US" b="1" dirty="0">
                <a:solidFill>
                  <a:srgbClr val="000000"/>
                </a:solidFill>
                <a:latin typeface="Bahnschrift" pitchFamily="34" charset="0"/>
                <a:ea typeface="Arial Unicode MS" pitchFamily="34" charset="-128"/>
                <a:cs typeface="Arial Unicode MS" pitchFamily="34" charset="-128"/>
              </a:rPr>
              <a:t>Aditya</a:t>
            </a:r>
            <a:r>
              <a:rPr lang="it-IT" altLang="en-US" dirty="0">
                <a:solidFill>
                  <a:srgbClr val="000000"/>
                </a:solidFill>
                <a:latin typeface="Bahnschrift" pitchFamily="34" charset="0"/>
                <a:ea typeface="Arial Unicode MS" pitchFamily="34" charset="-128"/>
                <a:cs typeface="Arial Unicode MS" pitchFamily="34" charset="-128"/>
              </a:rPr>
              <a:t> </a:t>
            </a:r>
            <a:r>
              <a:rPr lang="it-IT" altLang="en-US" b="1" dirty="0">
                <a:solidFill>
                  <a:srgbClr val="000000"/>
                </a:solidFill>
                <a:latin typeface="Bahnschrift" pitchFamily="34" charset="0"/>
                <a:ea typeface="Arial Unicode MS" pitchFamily="34" charset="-128"/>
                <a:cs typeface="Arial Unicode MS" pitchFamily="34" charset="-128"/>
              </a:rPr>
              <a:t>C</a:t>
            </a:r>
            <a:r>
              <a:rPr lang="it-IT" altLang="en-US" i="1" dirty="0">
                <a:solidFill>
                  <a:srgbClr val="000000"/>
                </a:solidFill>
                <a:latin typeface="Bahnschrift" pitchFamily="34" charset="0"/>
                <a:ea typeface="Arial Unicode MS" pitchFamily="34" charset="-128"/>
                <a:cs typeface="Arial Unicode MS" pitchFamily="34" charset="-128"/>
              </a:rPr>
              <a:t> </a:t>
            </a:r>
            <a:r>
              <a:rPr lang="it-IT" altLang="en-US" dirty="0">
                <a:solidFill>
                  <a:srgbClr val="000000"/>
                </a:solidFill>
                <a:latin typeface="Bahnschrift" pitchFamily="34" charset="0"/>
                <a:ea typeface="Arial Unicode MS" pitchFamily="34" charset="-128"/>
                <a:cs typeface="Arial Unicode MS" pitchFamily="34" charset="-128"/>
              </a:rPr>
              <a:t>(</a:t>
            </a:r>
            <a:r>
              <a:rPr lang="en-US" altLang="en-US" dirty="0">
                <a:solidFill>
                  <a:srgbClr val="000000"/>
                </a:solidFill>
                <a:latin typeface="Bahnschrift" pitchFamily="34" charset="0"/>
                <a:ea typeface="Arial Unicode MS" pitchFamily="34" charset="-128"/>
                <a:cs typeface="Arial Unicode MS" pitchFamily="34" charset="-128"/>
              </a:rPr>
              <a:t>200072)</a:t>
            </a:r>
          </a:p>
          <a:p>
            <a:pPr algn="ctr"/>
            <a:endParaRPr lang="en-US" altLang="en-US" i="1" dirty="0">
              <a:solidFill>
                <a:srgbClr val="000000"/>
              </a:solidFill>
              <a:latin typeface="Bahnschrift" pitchFamily="34" charset="0"/>
              <a:ea typeface="Arial Unicode MS" pitchFamily="34" charset="-128"/>
              <a:cs typeface="Arial Unicode MS" pitchFamily="34" charset="-128"/>
            </a:endParaRPr>
          </a:p>
          <a:p>
            <a:pPr algn="ctr"/>
            <a:r>
              <a:rPr lang="en-US" altLang="en-US" i="1" dirty="0">
                <a:solidFill>
                  <a:srgbClr val="000000"/>
                </a:solidFill>
                <a:latin typeface="Bahnschrift" pitchFamily="34" charset="0"/>
                <a:ea typeface="Arial Unicode MS" pitchFamily="34" charset="-128"/>
                <a:cs typeface="Arial Unicode MS" pitchFamily="34" charset="-128"/>
              </a:rPr>
              <a:t>CSBS-3</a:t>
            </a:r>
            <a:r>
              <a:rPr lang="en-US" altLang="en-US" i="1" baseline="30000" dirty="0">
                <a:solidFill>
                  <a:srgbClr val="000000"/>
                </a:solidFill>
                <a:latin typeface="Bahnschrift" pitchFamily="34" charset="0"/>
                <a:ea typeface="Arial Unicode MS" pitchFamily="34" charset="-128"/>
                <a:cs typeface="Arial Unicode MS" pitchFamily="34" charset="-128"/>
              </a:rPr>
              <a:t>rd</a:t>
            </a:r>
            <a:r>
              <a:rPr lang="en-US" altLang="en-US" i="1" dirty="0">
                <a:solidFill>
                  <a:srgbClr val="000000"/>
                </a:solidFill>
                <a:latin typeface="Bahnschrift" pitchFamily="34" charset="0"/>
                <a:ea typeface="Arial Unicode MS" pitchFamily="34" charset="-128"/>
                <a:cs typeface="Arial Unicode MS" pitchFamily="34" charset="-128"/>
              </a:rPr>
              <a:t> YEAR(5</a:t>
            </a:r>
            <a:r>
              <a:rPr lang="en-US" altLang="en-US" i="1" baseline="30000" dirty="0">
                <a:solidFill>
                  <a:srgbClr val="000000"/>
                </a:solidFill>
                <a:latin typeface="Bahnschrift" pitchFamily="34" charset="0"/>
                <a:ea typeface="Arial Unicode MS" pitchFamily="34" charset="-128"/>
                <a:cs typeface="Arial Unicode MS" pitchFamily="34" charset="-128"/>
              </a:rPr>
              <a:t>th</a:t>
            </a:r>
            <a:r>
              <a:rPr lang="en-US" altLang="en-US" i="1" dirty="0">
                <a:solidFill>
                  <a:srgbClr val="000000"/>
                </a:solidFill>
                <a:latin typeface="Bahnschrift" pitchFamily="34" charset="0"/>
                <a:ea typeface="Arial Unicode MS" pitchFamily="34" charset="-128"/>
                <a:cs typeface="Arial Unicode MS" pitchFamily="34" charset="-128"/>
              </a:rPr>
              <a:t> SEM)</a:t>
            </a:r>
          </a:p>
        </p:txBody>
      </p:sp>
      <p:sp>
        <p:nvSpPr>
          <p:cNvPr id="4100" name="TextBox 6"/>
          <p:cNvSpPr txBox="1">
            <a:spLocks noChangeArrowheads="1"/>
          </p:cNvSpPr>
          <p:nvPr/>
        </p:nvSpPr>
        <p:spPr bwMode="auto">
          <a:xfrm>
            <a:off x="1500188" y="5143500"/>
            <a:ext cx="6357937" cy="1016000"/>
          </a:xfrm>
          <a:prstGeom prst="rect">
            <a:avLst/>
          </a:prstGeom>
          <a:noFill/>
          <a:ln w="9525">
            <a:noFill/>
            <a:miter lim="800000"/>
            <a:headEnd/>
            <a:tailEnd/>
          </a:ln>
        </p:spPr>
        <p:txBody>
          <a:bodyPr>
            <a:spAutoFit/>
          </a:bodyPr>
          <a:lstStyle/>
          <a:p>
            <a:pPr algn="ctr"/>
            <a:r>
              <a:rPr lang="en-US" sz="2000" dirty="0">
                <a:latin typeface="Arial Narrow" pitchFamily="34" charset="0"/>
                <a:ea typeface="Arial Unicode MS" pitchFamily="34" charset="-128"/>
                <a:cs typeface="Arial Unicode MS" pitchFamily="34" charset="-128"/>
              </a:rPr>
              <a:t>DEPARTMENT OF COMPUTER SCIENCE AND ENGINEERING</a:t>
            </a:r>
          </a:p>
          <a:p>
            <a:pPr algn="ctr"/>
            <a:r>
              <a:rPr lang="en-US" sz="2000" dirty="0">
                <a:latin typeface="Arial Narrow" pitchFamily="34" charset="0"/>
                <a:ea typeface="Arial Unicode MS" pitchFamily="34" charset="-128"/>
                <a:cs typeface="Arial Unicode MS" pitchFamily="34" charset="-128"/>
              </a:rPr>
              <a:t> GITAM DEEMED TO BE UNIVERSITY</a:t>
            </a:r>
          </a:p>
          <a:p>
            <a:pPr algn="ctr"/>
            <a:r>
              <a:rPr lang="en-US" sz="2000" dirty="0">
                <a:latin typeface="Arial Narrow" pitchFamily="34" charset="0"/>
                <a:ea typeface="Arial Unicode MS" pitchFamily="34" charset="-128"/>
                <a:cs typeface="Arial Unicode MS" pitchFamily="34" charset="-128"/>
              </a:rPr>
              <a:t>BANGALURU,KARNATAKA</a:t>
            </a:r>
          </a:p>
        </p:txBody>
      </p:sp>
      <p:sp>
        <p:nvSpPr>
          <p:cNvPr id="4101" name="TextBox 5"/>
          <p:cNvSpPr txBox="1">
            <a:spLocks noChangeArrowheads="1"/>
          </p:cNvSpPr>
          <p:nvPr/>
        </p:nvSpPr>
        <p:spPr bwMode="auto">
          <a:xfrm>
            <a:off x="2928938" y="1500188"/>
            <a:ext cx="4643437" cy="369887"/>
          </a:xfrm>
          <a:prstGeom prst="rect">
            <a:avLst/>
          </a:prstGeom>
          <a:noFill/>
          <a:ln w="9525">
            <a:noFill/>
            <a:miter lim="800000"/>
            <a:headEnd/>
            <a:tailEnd/>
          </a:ln>
        </p:spPr>
        <p:txBody>
          <a:bodyPr>
            <a:spAutoFit/>
          </a:bodyPr>
          <a:lstStyle/>
          <a:p>
            <a:r>
              <a:rPr lang="en-US" dirty="0"/>
              <a:t>Under Guidance of  : </a:t>
            </a:r>
            <a:r>
              <a:rPr lang="en-US" b="1" dirty="0"/>
              <a:t>Mrs.Shobharani D A</a:t>
            </a:r>
          </a:p>
        </p:txBody>
      </p:sp>
      <p:pic>
        <p:nvPicPr>
          <p:cNvPr id="4102" name="Picture 7" descr="GITAM NEW LOGO green@3x.png"/>
          <p:cNvPicPr>
            <a:picLocks noChangeAspect="1"/>
          </p:cNvPicPr>
          <p:nvPr/>
        </p:nvPicPr>
        <p:blipFill>
          <a:blip r:embed="rId2"/>
          <a:srcRect/>
          <a:stretch>
            <a:fillRect/>
          </a:stretch>
        </p:blipFill>
        <p:spPr bwMode="auto">
          <a:xfrm>
            <a:off x="6715125" y="214313"/>
            <a:ext cx="2286000" cy="993775"/>
          </a:xfrm>
          <a:prstGeom prst="rect">
            <a:avLst/>
          </a:prstGeom>
          <a:noFill/>
          <a:ln w="9525">
            <a:noFill/>
            <a:miter lim="800000"/>
            <a:headEnd/>
            <a:tailEnd/>
          </a:ln>
        </p:spPr>
      </p:pic>
    </p:spTree>
  </p:cSld>
  <p:clrMapOvr>
    <a:masterClrMapping/>
  </p:clrMapOvr>
  <p:transition spd="slow">
    <p:dissolve/>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7" name="Rectangle 3"/>
          <p:cNvSpPr>
            <a:spLocks noChangeArrowheads="1"/>
          </p:cNvSpPr>
          <p:nvPr/>
        </p:nvSpPr>
        <p:spPr bwMode="auto">
          <a:xfrm>
            <a:off x="3059113" y="312738"/>
            <a:ext cx="2401887" cy="523220"/>
          </a:xfrm>
          <a:prstGeom prst="rect">
            <a:avLst/>
          </a:prstGeom>
          <a:noFill/>
          <a:ln w="9525">
            <a:noFill/>
            <a:miter lim="800000"/>
            <a:headEnd/>
            <a:tailEnd/>
          </a:ln>
        </p:spPr>
        <p:txBody>
          <a:bodyPr wrap="square">
            <a:spAutoFit/>
          </a:bodyPr>
          <a:lstStyle/>
          <a:p>
            <a:pPr algn="ctr" eaLnBrk="1" hangingPunct="1"/>
            <a:r>
              <a:rPr lang="en-IN" altLang="en-US" sz="2800" b="1" dirty="0">
                <a:latin typeface="Times New Roman" pitchFamily="18" charset="0"/>
                <a:cs typeface="Times New Roman" pitchFamily="18" charset="0"/>
              </a:rPr>
              <a:t>Abstract</a:t>
            </a:r>
          </a:p>
        </p:txBody>
      </p:sp>
      <p:sp>
        <p:nvSpPr>
          <p:cNvPr id="7172" name="Rectangle 6"/>
          <p:cNvSpPr>
            <a:spLocks noChangeArrowheads="1"/>
          </p:cNvSpPr>
          <p:nvPr/>
        </p:nvSpPr>
        <p:spPr bwMode="auto">
          <a:xfrm>
            <a:off x="0" y="928670"/>
            <a:ext cx="3892550" cy="769937"/>
          </a:xfrm>
          <a:prstGeom prst="rect">
            <a:avLst/>
          </a:prstGeom>
          <a:noFill/>
          <a:ln w="9525">
            <a:noFill/>
            <a:miter lim="800000"/>
            <a:headEnd/>
            <a:tailEnd/>
          </a:ln>
        </p:spPr>
        <p:txBody>
          <a:bodyPr>
            <a:spAutoFit/>
          </a:bodyPr>
          <a:lstStyle/>
          <a:p>
            <a:pPr>
              <a:defRPr/>
            </a:pPr>
            <a:endParaRPr lang="en-US" sz="2400" dirty="0"/>
          </a:p>
          <a:p>
            <a:pPr marL="73025" eaLnBrk="1" hangingPunct="1">
              <a:defRPr/>
            </a:pPr>
            <a:r>
              <a:rPr lang="en-US" altLang="en-US" sz="2000" b="1" i="1" u="sng" dirty="0">
                <a:latin typeface="Times New Roman" pitchFamily="18" charset="0"/>
                <a:cs typeface="Times New Roman" pitchFamily="18" charset="0"/>
              </a:rPr>
              <a:t> </a:t>
            </a:r>
          </a:p>
        </p:txBody>
      </p:sp>
      <p:sp>
        <p:nvSpPr>
          <p:cNvPr id="6149" name="TextBox 5"/>
          <p:cNvSpPr txBox="1">
            <a:spLocks noChangeArrowheads="1"/>
          </p:cNvSpPr>
          <p:nvPr/>
        </p:nvSpPr>
        <p:spPr bwMode="auto">
          <a:xfrm>
            <a:off x="0" y="1071546"/>
            <a:ext cx="9143999" cy="3862596"/>
          </a:xfrm>
          <a:prstGeom prst="rect">
            <a:avLst/>
          </a:prstGeom>
          <a:noFill/>
          <a:ln w="9525">
            <a:noFill/>
            <a:miter lim="800000"/>
            <a:headEnd/>
            <a:tailEnd/>
          </a:ln>
        </p:spPr>
        <p:txBody>
          <a:bodyPr wrap="square">
            <a:spAutoFit/>
          </a:bodyPr>
          <a:lstStyle/>
          <a:p>
            <a:r>
              <a:rPr lang="en-US" sz="2000" dirty="0" smtClean="0">
                <a:latin typeface="Times New Roman" pitchFamily="18" charset="0"/>
                <a:cs typeface="Times New Roman" pitchFamily="18" charset="0"/>
              </a:rPr>
              <a:t>India has about 12 million blind people, compared to 39 million globally, with 85% of cases being curable from the early detection of the eye disease. </a:t>
            </a:r>
            <a:r>
              <a:rPr lang="en-US" sz="2000" dirty="0" smtClean="0">
                <a:latin typeface="Times New Roman" pitchFamily="18" charset="0"/>
                <a:cs typeface="Times New Roman" pitchFamily="18" charset="0"/>
              </a:rPr>
              <a:t>We propose an automatic </a:t>
            </a:r>
            <a:r>
              <a:rPr lang="en-US" sz="2000" dirty="0" smtClean="0">
                <a:latin typeface="Times New Roman" pitchFamily="18" charset="0"/>
                <a:cs typeface="Times New Roman" pitchFamily="18" charset="0"/>
              </a:rPr>
              <a:t>deep learning </a:t>
            </a:r>
            <a:r>
              <a:rPr lang="en-US" sz="2000" dirty="0" smtClean="0">
                <a:latin typeface="Times New Roman" pitchFamily="18" charset="0"/>
                <a:cs typeface="Times New Roman" pitchFamily="18" charset="0"/>
              </a:rPr>
              <a:t>model for quick and accurate detection of eye diseases, reducing the need for manual exams and expediting diagnoses, especially in areas with limited eye care access. This system enables remote consultations, minimizing physical appointments for routine checks. Collaborations with hospitals will be vital for refining the model's performance. With a detection time of under one minute, it’s suited for large-scale screenings, enhancing public health outcomes through early intervention. Extensive testing with diverse datasets will ensure its reliability across different demographics.</a:t>
            </a:r>
          </a:p>
          <a:p>
            <a:endParaRPr lang="en-US" dirty="0" smtClean="0"/>
          </a:p>
          <a:p>
            <a:pPr>
              <a:lnSpc>
                <a:spcPct val="150000"/>
              </a:lnSpc>
              <a:buFont typeface="Wingdings" pitchFamily="2" charset="2"/>
              <a:buChar char="Ø"/>
            </a:pPr>
            <a:endParaRPr lang="en-US" dirty="0" smtClean="0">
              <a:latin typeface="Times New Roman" pitchFamily="18" charset="0"/>
              <a:cs typeface="Times New Roman" pitchFamily="18" charset="0"/>
            </a:endParaRPr>
          </a:p>
        </p:txBody>
      </p:sp>
      <p:pic>
        <p:nvPicPr>
          <p:cNvPr id="6" name="Picture 7" descr="GITAM NEW LOGO green@3x.png"/>
          <p:cNvPicPr>
            <a:picLocks noChangeAspect="1"/>
          </p:cNvPicPr>
          <p:nvPr/>
        </p:nvPicPr>
        <p:blipFill>
          <a:blip r:embed="rId2"/>
          <a:srcRect/>
          <a:stretch>
            <a:fillRect/>
          </a:stretch>
        </p:blipFill>
        <p:spPr bwMode="auto">
          <a:xfrm>
            <a:off x="6715125" y="214313"/>
            <a:ext cx="2286000" cy="9937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Rectangle 2"/>
          <p:cNvSpPr>
            <a:spLocks noChangeArrowheads="1"/>
          </p:cNvSpPr>
          <p:nvPr/>
        </p:nvSpPr>
        <p:spPr bwMode="auto">
          <a:xfrm>
            <a:off x="2771775" y="312738"/>
            <a:ext cx="2494529" cy="523220"/>
          </a:xfrm>
          <a:prstGeom prst="rect">
            <a:avLst/>
          </a:prstGeom>
          <a:noFill/>
          <a:ln w="9525">
            <a:noFill/>
            <a:miter lim="800000"/>
            <a:headEnd/>
            <a:tailEnd/>
          </a:ln>
        </p:spPr>
        <p:txBody>
          <a:bodyPr wrap="none">
            <a:spAutoFit/>
          </a:bodyPr>
          <a:lstStyle/>
          <a:p>
            <a:pPr eaLnBrk="1" hangingPunct="1"/>
            <a:r>
              <a:rPr lang="en-IN" altLang="en-US" sz="2800" b="1" dirty="0" smtClean="0">
                <a:latin typeface="Times New Roman" pitchFamily="18" charset="0"/>
                <a:cs typeface="Times New Roman" pitchFamily="18" charset="0"/>
              </a:rPr>
              <a:t>    Introduction</a:t>
            </a:r>
            <a:endParaRPr lang="en-IN" altLang="en-US" sz="2800" b="1" dirty="0">
              <a:latin typeface="Times New Roman" pitchFamily="18" charset="0"/>
              <a:cs typeface="Times New Roman" pitchFamily="18" charset="0"/>
            </a:endParaRPr>
          </a:p>
        </p:txBody>
      </p:sp>
      <p:sp>
        <p:nvSpPr>
          <p:cNvPr id="8196" name="TextBox 3"/>
          <p:cNvSpPr txBox="1">
            <a:spLocks noChangeArrowheads="1"/>
          </p:cNvSpPr>
          <p:nvPr/>
        </p:nvSpPr>
        <p:spPr bwMode="auto">
          <a:xfrm>
            <a:off x="285720" y="1142984"/>
            <a:ext cx="8572560" cy="5447645"/>
          </a:xfrm>
          <a:prstGeom prst="rect">
            <a:avLst/>
          </a:prstGeom>
          <a:noFill/>
          <a:ln w="9525">
            <a:noFill/>
            <a:miter lim="800000"/>
            <a:headEnd/>
            <a:tailEnd/>
          </a:ln>
        </p:spPr>
        <p:txBody>
          <a:bodyPr wrap="square">
            <a:spAutoFit/>
          </a:bodyPr>
          <a:lstStyle/>
          <a:p>
            <a:pPr>
              <a:lnSpc>
                <a:spcPct val="150000"/>
              </a:lnSpc>
              <a:buFont typeface="Wingdings" pitchFamily="2" charset="2"/>
              <a:buChar char="Ø"/>
            </a:pPr>
            <a:r>
              <a:rPr lang="en-US" dirty="0" smtClean="0">
                <a:latin typeface="Times New Roman" pitchFamily="18" charset="0"/>
                <a:cs typeface="Times New Roman" pitchFamily="18" charset="0"/>
              </a:rPr>
              <a:t>Eye diseases that include cataracts, glaucoma, diabetic retinopathy, and macular degeneration.</a:t>
            </a:r>
          </a:p>
          <a:p>
            <a:pPr>
              <a:lnSpc>
                <a:spcPct val="150000"/>
              </a:lnSpc>
              <a:buFont typeface="Wingdings" pitchFamily="2" charset="2"/>
              <a:buChar char="Ø"/>
            </a:pPr>
            <a:r>
              <a:rPr lang="en-US" dirty="0" smtClean="0">
                <a:latin typeface="Times New Roman" pitchFamily="18" charset="0"/>
                <a:cs typeface="Times New Roman" pitchFamily="18" charset="0"/>
              </a:rPr>
              <a:t>Many of these conditions progress quietly and can lead to vision loss or blindness if not caught early.</a:t>
            </a:r>
          </a:p>
          <a:p>
            <a:pPr>
              <a:lnSpc>
                <a:spcPct val="150000"/>
              </a:lnSpc>
              <a:buFont typeface="Wingdings" pitchFamily="2" charset="2"/>
              <a:buChar char="Ø"/>
            </a:pPr>
            <a:r>
              <a:rPr lang="en-US" dirty="0" smtClean="0">
                <a:latin typeface="Times New Roman" pitchFamily="18" charset="0"/>
                <a:cs typeface="Times New Roman" pitchFamily="18" charset="0"/>
              </a:rPr>
              <a:t>Catching these diseases early acts like a key that can help prevent permanent vision damage.</a:t>
            </a:r>
          </a:p>
          <a:p>
            <a:pPr>
              <a:lnSpc>
                <a:spcPct val="150000"/>
              </a:lnSpc>
              <a:buFont typeface="Wingdings" pitchFamily="2" charset="2"/>
              <a:buChar char="Ø"/>
            </a:pPr>
            <a:r>
              <a:rPr lang="en-US" dirty="0" smtClean="0">
                <a:latin typeface="Times New Roman" pitchFamily="18" charset="0"/>
                <a:cs typeface="Times New Roman" pitchFamily="18" charset="0"/>
              </a:rPr>
              <a:t>Artificial intelligence models can analyze medical images to find early signs of these diseases.</a:t>
            </a:r>
          </a:p>
          <a:p>
            <a:pPr>
              <a:lnSpc>
                <a:spcPct val="150000"/>
              </a:lnSpc>
              <a:buFont typeface="Wingdings" pitchFamily="2" charset="2"/>
              <a:buChar char="Ø"/>
            </a:pPr>
            <a:r>
              <a:rPr lang="en-US" dirty="0" smtClean="0">
                <a:latin typeface="Times New Roman" pitchFamily="18" charset="0"/>
                <a:cs typeface="Times New Roman" pitchFamily="18" charset="0"/>
              </a:rPr>
              <a:t>It can detect sudden or minor change in the eye, leading to quicker and more accurate diagnoses by the doctor.</a:t>
            </a:r>
          </a:p>
          <a:p>
            <a:pPr>
              <a:lnSpc>
                <a:spcPct val="150000"/>
              </a:lnSpc>
              <a:buFont typeface="Wingdings" pitchFamily="2" charset="2"/>
              <a:buChar char="Ø"/>
            </a:pPr>
            <a:r>
              <a:rPr lang="en-US" dirty="0" smtClean="0">
                <a:latin typeface="Times New Roman" pitchFamily="18" charset="0"/>
                <a:cs typeface="Times New Roman" pitchFamily="18" charset="0"/>
              </a:rPr>
              <a:t>Early detection with AI tools can result in timely treatments and improved patient care, also reduces the cost of major treatments.</a:t>
            </a:r>
          </a:p>
          <a:p>
            <a:pPr>
              <a:buFont typeface="Wingdings" pitchFamily="2" charset="2"/>
              <a:buChar char="Ø"/>
            </a:pPr>
            <a:endParaRPr lang="en-US" sz="2400" dirty="0" smtClean="0">
              <a:latin typeface="Times New Roman" pitchFamily="18" charset="0"/>
              <a:cs typeface="Times New Roman" pitchFamily="18" charset="0"/>
            </a:endParaRPr>
          </a:p>
        </p:txBody>
      </p:sp>
      <p:pic>
        <p:nvPicPr>
          <p:cNvPr id="5" name="Picture 7" descr="GITAM NEW LOGO green@3x.png"/>
          <p:cNvPicPr>
            <a:picLocks noChangeAspect="1"/>
          </p:cNvPicPr>
          <p:nvPr/>
        </p:nvPicPr>
        <p:blipFill>
          <a:blip r:embed="rId2"/>
          <a:srcRect/>
          <a:stretch>
            <a:fillRect/>
          </a:stretch>
        </p:blipFill>
        <p:spPr bwMode="auto">
          <a:xfrm>
            <a:off x="6715140" y="214313"/>
            <a:ext cx="2286000" cy="9937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49A513DB-2AF1-46C8-9D03-C0522DDE71C4}" type="slidenum">
              <a:rPr lang="en-IN" altLang="en-US" smtClean="0"/>
              <a:pPr>
                <a:defRPr/>
              </a:pPr>
              <a:t>4</a:t>
            </a:fld>
            <a:endParaRPr lang="en-IN" altLang="en-US"/>
          </a:p>
        </p:txBody>
      </p:sp>
      <p:graphicFrame>
        <p:nvGraphicFramePr>
          <p:cNvPr id="5" name="Table 4"/>
          <p:cNvGraphicFramePr>
            <a:graphicFrameLocks noGrp="1"/>
          </p:cNvGraphicFramePr>
          <p:nvPr/>
        </p:nvGraphicFramePr>
        <p:xfrm>
          <a:off x="285720" y="1214422"/>
          <a:ext cx="8715435" cy="5084937"/>
        </p:xfrm>
        <a:graphic>
          <a:graphicData uri="http://schemas.openxmlformats.org/drawingml/2006/table">
            <a:tbl>
              <a:tblPr firstRow="1" bandRow="1">
                <a:tableStyleId>{0505E3EF-67EA-436B-97B2-0124C06EBD24}</a:tableStyleId>
              </a:tblPr>
              <a:tblGrid>
                <a:gridCol w="642942"/>
                <a:gridCol w="1785950"/>
                <a:gridCol w="2357454"/>
                <a:gridCol w="1785950"/>
                <a:gridCol w="2143139"/>
              </a:tblGrid>
              <a:tr h="974454">
                <a:tc>
                  <a:txBody>
                    <a:bodyPr/>
                    <a:lstStyle/>
                    <a:p>
                      <a:pPr algn="ctr"/>
                      <a:r>
                        <a:rPr lang="en-US" dirty="0" smtClean="0"/>
                        <a:t>SL</a:t>
                      </a:r>
                      <a:r>
                        <a:rPr lang="en-US" baseline="0" dirty="0" smtClean="0"/>
                        <a:t> no.</a:t>
                      </a:r>
                      <a:endParaRPr lang="en-US" dirty="0"/>
                    </a:p>
                  </a:txBody>
                  <a:tcPr/>
                </a:tc>
                <a:tc>
                  <a:txBody>
                    <a:bodyPr/>
                    <a:lstStyle/>
                    <a:p>
                      <a:pPr algn="ctr"/>
                      <a:r>
                        <a:rPr lang="en-US" dirty="0" smtClean="0"/>
                        <a:t>TITLE</a:t>
                      </a:r>
                      <a:endParaRPr lang="en-US" dirty="0"/>
                    </a:p>
                  </a:txBody>
                  <a:tcPr/>
                </a:tc>
                <a:tc>
                  <a:txBody>
                    <a:bodyPr/>
                    <a:lstStyle/>
                    <a:p>
                      <a:r>
                        <a:rPr lang="en-US" dirty="0" smtClean="0"/>
                        <a:t>TECHNICAL</a:t>
                      </a:r>
                      <a:r>
                        <a:rPr lang="en-US" baseline="0" dirty="0" smtClean="0"/>
                        <a:t> ASPECTS</a:t>
                      </a:r>
                      <a:endParaRPr lang="en-US" dirty="0"/>
                    </a:p>
                  </a:txBody>
                  <a:tcPr/>
                </a:tc>
                <a:tc>
                  <a:txBody>
                    <a:bodyPr/>
                    <a:lstStyle/>
                    <a:p>
                      <a:r>
                        <a:rPr lang="en-US" dirty="0" smtClean="0"/>
                        <a:t>RESEARCH GAP</a:t>
                      </a:r>
                      <a:endParaRPr lang="en-US" dirty="0"/>
                    </a:p>
                  </a:txBody>
                  <a:tcPr/>
                </a:tc>
                <a:tc>
                  <a:txBody>
                    <a:bodyPr/>
                    <a:lstStyle/>
                    <a:p>
                      <a:r>
                        <a:rPr lang="en-US" dirty="0" smtClean="0"/>
                        <a:t>OUR KNOWLEDGE</a:t>
                      </a:r>
                      <a:endParaRPr lang="en-US" dirty="0"/>
                    </a:p>
                  </a:txBody>
                  <a:tcPr/>
                </a:tc>
              </a:tr>
              <a:tr h="2025942">
                <a:tc>
                  <a:txBody>
                    <a:bodyPr/>
                    <a:lstStyle/>
                    <a:p>
                      <a:r>
                        <a:rPr lang="en-US" dirty="0" smtClean="0">
                          <a:latin typeface="Times New Roman" pitchFamily="18" charset="0"/>
                          <a:cs typeface="Times New Roman" pitchFamily="18" charset="0"/>
                        </a:rPr>
                        <a:t>3</a:t>
                      </a:r>
                      <a:endParaRPr lang="en-US" dirty="0">
                        <a:latin typeface="Times New Roman" pitchFamily="18" charset="0"/>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latin typeface="Times New Roman" pitchFamily="18" charset="0"/>
                          <a:cs typeface="Times New Roman" pitchFamily="18" charset="0"/>
                        </a:rPr>
                        <a:t>Ensemble Approach for Diabetic Retinopathy Detection Using Deep Learning</a:t>
                      </a:r>
                    </a:p>
                    <a:p>
                      <a:r>
                        <a:rPr lang="en-US" dirty="0" smtClean="0">
                          <a:latin typeface="Times New Roman" pitchFamily="18" charset="0"/>
                          <a:cs typeface="Times New Roman" pitchFamily="18" charset="0"/>
                        </a:rPr>
                        <a:t>(2021)</a:t>
                      </a:r>
                      <a:endParaRPr lang="en-US" dirty="0">
                        <a:latin typeface="Times New Roman" pitchFamily="18" charset="0"/>
                        <a:cs typeface="Times New Roman" pitchFamily="18" charset="0"/>
                      </a:endParaRPr>
                    </a:p>
                  </a:txBody>
                  <a:tcPr/>
                </a:tc>
                <a:tc>
                  <a:txBody>
                    <a:bodyPr/>
                    <a:lstStyle/>
                    <a:p>
                      <a:r>
                        <a:rPr lang="en-US" sz="1600" dirty="0" smtClean="0">
                          <a:latin typeface="Times New Roman" pitchFamily="18" charset="0"/>
                          <a:cs typeface="Times New Roman" pitchFamily="18" charset="0"/>
                        </a:rPr>
                        <a:t>This study proposes an ensemble approach for diabetic retinopathy detection that combines CNN, Random Forest, and Support Vector Machine techniques.</a:t>
                      </a:r>
                      <a:endParaRPr lang="en-US" sz="1600" dirty="0">
                        <a:latin typeface="Times New Roman" pitchFamily="18" charset="0"/>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latin typeface="Times New Roman" pitchFamily="18" charset="0"/>
                          <a:cs typeface="Times New Roman" pitchFamily="18" charset="0"/>
                        </a:rPr>
                        <a:t>Limited to a specific type of eye disease, lacks generalization across multiple pathologies</a:t>
                      </a:r>
                    </a:p>
                    <a:p>
                      <a:endParaRPr lang="en-US" dirty="0">
                        <a:latin typeface="Times New Roman" pitchFamily="18" charset="0"/>
                        <a:cs typeface="Times New Roman" pitchFamily="18" charset="0"/>
                      </a:endParaRPr>
                    </a:p>
                  </a:txBody>
                  <a:tcPr/>
                </a:tc>
                <a:tc>
                  <a:txBody>
                    <a:bodyPr/>
                    <a:lstStyle/>
                    <a:p>
                      <a:r>
                        <a:rPr lang="en-US" sz="1600" dirty="0" smtClean="0">
                          <a:latin typeface="Times New Roman" pitchFamily="18" charset="0"/>
                          <a:cs typeface="Times New Roman" pitchFamily="18" charset="0"/>
                        </a:rPr>
                        <a:t>To enhance clinical relevance, it's important to develop models that can identify and differentiate various eye diseases.</a:t>
                      </a:r>
                      <a:endParaRPr lang="en-US" sz="1600" dirty="0">
                        <a:latin typeface="Times New Roman" pitchFamily="18" charset="0"/>
                        <a:cs typeface="Times New Roman" pitchFamily="18" charset="0"/>
                      </a:endParaRPr>
                    </a:p>
                  </a:txBody>
                  <a:tcPr/>
                </a:tc>
              </a:tr>
              <a:tr h="2084541">
                <a:tc>
                  <a:txBody>
                    <a:bodyPr/>
                    <a:lstStyle/>
                    <a:p>
                      <a:r>
                        <a:rPr lang="en-US" dirty="0" smtClean="0">
                          <a:latin typeface="Times New Roman" pitchFamily="18" charset="0"/>
                          <a:cs typeface="Times New Roman" pitchFamily="18" charset="0"/>
                        </a:rPr>
                        <a:t>4</a:t>
                      </a:r>
                      <a:endParaRPr lang="en-US" dirty="0">
                        <a:latin typeface="Times New Roman" pitchFamily="18" charset="0"/>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latin typeface="Times New Roman" pitchFamily="18" charset="0"/>
                          <a:cs typeface="Times New Roman" pitchFamily="18" charset="0"/>
                        </a:rPr>
                        <a:t>Comprehensive Analysis of Retinal Images for Glaucoma Detection</a:t>
                      </a:r>
                    </a:p>
                    <a:p>
                      <a:r>
                        <a:rPr lang="en-US" dirty="0" smtClean="0">
                          <a:latin typeface="Times New Roman" pitchFamily="18" charset="0"/>
                          <a:cs typeface="Times New Roman" pitchFamily="18" charset="0"/>
                        </a:rPr>
                        <a:t>(2021)</a:t>
                      </a:r>
                      <a:endParaRPr lang="en-US" dirty="0">
                        <a:latin typeface="Times New Roman" pitchFamily="18" charset="0"/>
                        <a:cs typeface="Times New Roman" pitchFamily="18" charset="0"/>
                      </a:endParaRPr>
                    </a:p>
                  </a:txBody>
                  <a:tcPr/>
                </a:tc>
                <a:tc>
                  <a:txBody>
                    <a:bodyPr/>
                    <a:lstStyle/>
                    <a:p>
                      <a:r>
                        <a:rPr lang="en-US" sz="1600" dirty="0" smtClean="0">
                          <a:latin typeface="Times New Roman" pitchFamily="18" charset="0"/>
                          <a:cs typeface="Times New Roman" pitchFamily="18" charset="0"/>
                        </a:rPr>
                        <a:t>This study analyzes various deep learning models, including Deep Neural Networks and image augmentation techniques, for glaucoma detection using retinal images.</a:t>
                      </a:r>
                      <a:endParaRPr lang="en-US" sz="1600" dirty="0">
                        <a:latin typeface="Times New Roman" pitchFamily="18" charset="0"/>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latin typeface="Times New Roman" pitchFamily="18" charset="0"/>
                          <a:cs typeface="Times New Roman" pitchFamily="18" charset="0"/>
                        </a:rPr>
                        <a:t>Data imbalance in training datasets leading to less accurate detection in minority classes</a:t>
                      </a:r>
                    </a:p>
                    <a:p>
                      <a:endParaRPr lang="en-US" dirty="0">
                        <a:latin typeface="Times New Roman" pitchFamily="18" charset="0"/>
                        <a:cs typeface="Times New Roman" pitchFamily="18" charset="0"/>
                      </a:endParaRPr>
                    </a:p>
                  </a:txBody>
                  <a:tcPr/>
                </a:tc>
                <a:tc>
                  <a:txBody>
                    <a:bodyPr/>
                    <a:lstStyle/>
                    <a:p>
                      <a:r>
                        <a:rPr lang="en-US" sz="1600" dirty="0" smtClean="0">
                          <a:latin typeface="Times New Roman" pitchFamily="18" charset="0"/>
                          <a:cs typeface="Times New Roman" pitchFamily="18" charset="0"/>
                        </a:rPr>
                        <a:t>Under sampling, or using specialized algorithms is crucial for improving detection accuracy across all classes.</a:t>
                      </a:r>
                      <a:endParaRPr lang="en-US" sz="1600" dirty="0">
                        <a:latin typeface="Times New Roman" pitchFamily="18" charset="0"/>
                        <a:cs typeface="Times New Roman" pitchFamily="18" charset="0"/>
                      </a:endParaRPr>
                    </a:p>
                  </a:txBody>
                  <a:tcPr/>
                </a:tc>
              </a:tr>
            </a:tbl>
          </a:graphicData>
        </a:graphic>
      </p:graphicFrame>
      <p:sp>
        <p:nvSpPr>
          <p:cNvPr id="6" name="TextBox 5"/>
          <p:cNvSpPr txBox="1"/>
          <p:nvPr/>
        </p:nvSpPr>
        <p:spPr>
          <a:xfrm>
            <a:off x="2285984" y="571480"/>
            <a:ext cx="3857652" cy="800219"/>
          </a:xfrm>
          <a:prstGeom prst="rect">
            <a:avLst/>
          </a:prstGeom>
          <a:noFill/>
        </p:spPr>
        <p:txBody>
          <a:bodyPr wrap="square" rtlCol="0">
            <a:spAutoFit/>
          </a:bodyPr>
          <a:lstStyle/>
          <a:p>
            <a:pPr algn="ctr"/>
            <a:r>
              <a:rPr lang="en-IN" altLang="en-US" sz="2800" b="1" u="sng" dirty="0" smtClean="0">
                <a:latin typeface="Times New Roman" pitchFamily="18" charset="0"/>
                <a:cs typeface="Times New Roman" pitchFamily="18" charset="0"/>
              </a:rPr>
              <a:t>Literature Survey</a:t>
            </a:r>
          </a:p>
          <a:p>
            <a:endParaRPr lang="en-US" dirty="0"/>
          </a:p>
        </p:txBody>
      </p:sp>
      <p:pic>
        <p:nvPicPr>
          <p:cNvPr id="7" name="Picture 7" descr="GITAM NEW LOGO green@3x.png"/>
          <p:cNvPicPr>
            <a:picLocks noChangeAspect="1"/>
          </p:cNvPicPr>
          <p:nvPr/>
        </p:nvPicPr>
        <p:blipFill>
          <a:blip r:embed="rId2"/>
          <a:srcRect/>
          <a:stretch>
            <a:fillRect/>
          </a:stretch>
        </p:blipFill>
        <p:spPr bwMode="auto">
          <a:xfrm>
            <a:off x="6715125" y="214313"/>
            <a:ext cx="2286000" cy="9937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49A513DB-2AF1-46C8-9D03-C0522DDE71C4}" type="slidenum">
              <a:rPr lang="en-IN" altLang="en-US" smtClean="0"/>
              <a:pPr>
                <a:defRPr/>
              </a:pPr>
              <a:t>5</a:t>
            </a:fld>
            <a:endParaRPr lang="en-IN" altLang="en-US"/>
          </a:p>
        </p:txBody>
      </p:sp>
      <p:graphicFrame>
        <p:nvGraphicFramePr>
          <p:cNvPr id="5" name="Table 4"/>
          <p:cNvGraphicFramePr>
            <a:graphicFrameLocks noGrp="1"/>
          </p:cNvGraphicFramePr>
          <p:nvPr/>
        </p:nvGraphicFramePr>
        <p:xfrm>
          <a:off x="0" y="1214422"/>
          <a:ext cx="9001155" cy="5530220"/>
        </p:xfrm>
        <a:graphic>
          <a:graphicData uri="http://schemas.openxmlformats.org/drawingml/2006/table">
            <a:tbl>
              <a:tblPr firstRow="1" bandRow="1">
                <a:tableStyleId>{0505E3EF-67EA-436B-97B2-0124C06EBD24}</a:tableStyleId>
              </a:tblPr>
              <a:tblGrid>
                <a:gridCol w="664020"/>
                <a:gridCol w="1844499"/>
                <a:gridCol w="2434739"/>
                <a:gridCol w="2065839"/>
                <a:gridCol w="1992058"/>
              </a:tblGrid>
              <a:tr h="714380">
                <a:tc>
                  <a:txBody>
                    <a:bodyPr/>
                    <a:lstStyle/>
                    <a:p>
                      <a:pPr algn="ctr"/>
                      <a:r>
                        <a:rPr lang="en-US" dirty="0" smtClean="0"/>
                        <a:t>SL</a:t>
                      </a:r>
                      <a:r>
                        <a:rPr lang="en-US" baseline="0" dirty="0" smtClean="0"/>
                        <a:t> no.</a:t>
                      </a:r>
                      <a:endParaRPr lang="en-US" dirty="0"/>
                    </a:p>
                  </a:txBody>
                  <a:tcPr/>
                </a:tc>
                <a:tc>
                  <a:txBody>
                    <a:bodyPr/>
                    <a:lstStyle/>
                    <a:p>
                      <a:pPr algn="ctr"/>
                      <a:r>
                        <a:rPr lang="en-US" dirty="0" smtClean="0"/>
                        <a:t>TITLE</a:t>
                      </a:r>
                      <a:endParaRPr lang="en-US" dirty="0"/>
                    </a:p>
                  </a:txBody>
                  <a:tcPr/>
                </a:tc>
                <a:tc>
                  <a:txBody>
                    <a:bodyPr/>
                    <a:lstStyle/>
                    <a:p>
                      <a:r>
                        <a:rPr lang="en-US" dirty="0" smtClean="0"/>
                        <a:t>TECHNICAL</a:t>
                      </a:r>
                      <a:r>
                        <a:rPr lang="en-US" baseline="0" dirty="0" smtClean="0"/>
                        <a:t> ASPECTS</a:t>
                      </a:r>
                      <a:endParaRPr lang="en-US" dirty="0"/>
                    </a:p>
                  </a:txBody>
                  <a:tcPr/>
                </a:tc>
                <a:tc>
                  <a:txBody>
                    <a:bodyPr/>
                    <a:lstStyle/>
                    <a:p>
                      <a:r>
                        <a:rPr lang="en-US" dirty="0" smtClean="0"/>
                        <a:t>RESEARCH GAP</a:t>
                      </a:r>
                      <a:endParaRPr lang="en-US" dirty="0"/>
                    </a:p>
                  </a:txBody>
                  <a:tcPr/>
                </a:tc>
                <a:tc>
                  <a:txBody>
                    <a:bodyPr/>
                    <a:lstStyle/>
                    <a:p>
                      <a:r>
                        <a:rPr lang="en-US" dirty="0" smtClean="0"/>
                        <a:t>OUR KNOWLEDGE</a:t>
                      </a:r>
                      <a:endParaRPr lang="en-US" dirty="0"/>
                    </a:p>
                  </a:txBody>
                  <a:tcPr/>
                </a:tc>
              </a:tr>
              <a:tr h="2084541">
                <a:tc>
                  <a:txBody>
                    <a:bodyPr/>
                    <a:lstStyle/>
                    <a:p>
                      <a:r>
                        <a:rPr lang="en-US" dirty="0" smtClean="0"/>
                        <a:t>5</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t>A Systematic Review on Diabetic Retinopathy Detection Using Deep Learning Techniques</a:t>
                      </a:r>
                    </a:p>
                    <a:p>
                      <a:r>
                        <a:rPr lang="en-US" dirty="0" smtClean="0"/>
                        <a:t>(2022)</a:t>
                      </a:r>
                      <a:endParaRPr lang="en-US" dirty="0"/>
                    </a:p>
                  </a:txBody>
                  <a:tcPr/>
                </a:tc>
                <a:tc>
                  <a:txBody>
                    <a:bodyPr/>
                    <a:lstStyle/>
                    <a:p>
                      <a:r>
                        <a:rPr lang="en-US" sz="1600" dirty="0" smtClean="0"/>
                        <a:t>The paper reviews various deep learning approaches for diabetic retinopathy detection, focusing on advancements in image classification, including Convolutional Neural Networks (CNN), segmentation, and feature extraction.</a:t>
                      </a:r>
                      <a:endParaRPr lang="en-US" sz="1600" dirty="0"/>
                    </a:p>
                  </a:txBody>
                  <a:tcPr/>
                </a:tc>
                <a:tc>
                  <a:txBody>
                    <a:bodyPr/>
                    <a:lstStyle/>
                    <a:p>
                      <a:r>
                        <a:rPr lang="en-US" sz="1600" dirty="0" smtClean="0"/>
                        <a:t>Lack of comprehensive datasets and challenges in detecting disease in early stages.</a:t>
                      </a:r>
                      <a:endParaRPr lang="en-US" sz="1600" dirty="0"/>
                    </a:p>
                  </a:txBody>
                  <a:tcPr/>
                </a:tc>
                <a:tc>
                  <a:txBody>
                    <a:bodyPr/>
                    <a:lstStyle/>
                    <a:p>
                      <a:r>
                        <a:rPr lang="en-US" sz="1600" dirty="0" smtClean="0"/>
                        <a:t>Furthermore, challenges in detecting diseases early may arise from variations in symptoms, imaging quality, and the subtlety of early-stage manifestations</a:t>
                      </a:r>
                      <a:endParaRPr lang="en-US" sz="1600" dirty="0"/>
                    </a:p>
                  </a:txBody>
                  <a:tcPr/>
                </a:tc>
              </a:tr>
              <a:tr h="2084541">
                <a:tc>
                  <a:txBody>
                    <a:bodyPr/>
                    <a:lstStyle/>
                    <a:p>
                      <a:r>
                        <a:rPr lang="en-US" dirty="0" smtClean="0"/>
                        <a:t>6</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t>Multi-Scale Convolutional Neural Network for Age-Related Macular Degeneration Detection</a:t>
                      </a:r>
                    </a:p>
                    <a:p>
                      <a:r>
                        <a:rPr lang="en-US" dirty="0" smtClean="0"/>
                        <a:t>(2022)</a:t>
                      </a:r>
                      <a:endParaRPr lang="en-US" dirty="0"/>
                    </a:p>
                  </a:txBody>
                  <a:tcPr/>
                </a:tc>
                <a:tc>
                  <a:txBody>
                    <a:bodyPr/>
                    <a:lstStyle/>
                    <a:p>
                      <a:r>
                        <a:rPr lang="en-US" dirty="0" smtClean="0"/>
                        <a:t>This study presents a new model for detecting Age-Related Macular Degeneration by analyzing fundus images using a Multi-Scale Convolutional Neural Network.</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t>High computational costs associated with training multi-scale models, which limits their practical use.</a:t>
                      </a:r>
                    </a:p>
                    <a:p>
                      <a:endParaRPr lang="en-US" dirty="0"/>
                    </a:p>
                  </a:txBody>
                  <a:tcPr/>
                </a:tc>
                <a:tc>
                  <a:txBody>
                    <a:bodyPr/>
                    <a:lstStyle/>
                    <a:p>
                      <a:r>
                        <a:rPr lang="en-US" sz="1600" dirty="0" smtClean="0"/>
                        <a:t>Consequently, there is a growing need for more efficient modeling techniques that balance performance with reduced computational demands</a:t>
                      </a:r>
                      <a:endParaRPr lang="en-US" sz="1600" dirty="0"/>
                    </a:p>
                  </a:txBody>
                  <a:tcPr/>
                </a:tc>
              </a:tr>
            </a:tbl>
          </a:graphicData>
        </a:graphic>
      </p:graphicFrame>
      <p:sp>
        <p:nvSpPr>
          <p:cNvPr id="6" name="TextBox 5"/>
          <p:cNvSpPr txBox="1"/>
          <p:nvPr/>
        </p:nvSpPr>
        <p:spPr>
          <a:xfrm>
            <a:off x="2285984" y="571480"/>
            <a:ext cx="3857652" cy="800219"/>
          </a:xfrm>
          <a:prstGeom prst="rect">
            <a:avLst/>
          </a:prstGeom>
          <a:noFill/>
        </p:spPr>
        <p:txBody>
          <a:bodyPr wrap="square" rtlCol="0">
            <a:spAutoFit/>
          </a:bodyPr>
          <a:lstStyle/>
          <a:p>
            <a:pPr algn="ctr"/>
            <a:r>
              <a:rPr lang="en-IN" altLang="en-US" sz="2800" b="1" u="sng" dirty="0" smtClean="0">
                <a:latin typeface="Times New Roman" pitchFamily="18" charset="0"/>
                <a:cs typeface="Times New Roman" pitchFamily="18" charset="0"/>
              </a:rPr>
              <a:t>Literature Survey</a:t>
            </a:r>
          </a:p>
          <a:p>
            <a:endParaRPr lang="en-US" dirty="0"/>
          </a:p>
        </p:txBody>
      </p:sp>
      <p:pic>
        <p:nvPicPr>
          <p:cNvPr id="7" name="Picture 7" descr="GITAM NEW LOGO green@3x.png"/>
          <p:cNvPicPr>
            <a:picLocks noChangeAspect="1"/>
          </p:cNvPicPr>
          <p:nvPr/>
        </p:nvPicPr>
        <p:blipFill>
          <a:blip r:embed="rId2"/>
          <a:srcRect/>
          <a:stretch>
            <a:fillRect/>
          </a:stretch>
        </p:blipFill>
        <p:spPr bwMode="auto">
          <a:xfrm>
            <a:off x="6715125" y="214313"/>
            <a:ext cx="2286000" cy="9937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49A513DB-2AF1-46C8-9D03-C0522DDE71C4}" type="slidenum">
              <a:rPr lang="en-IN" altLang="en-US" smtClean="0"/>
              <a:pPr>
                <a:defRPr/>
              </a:pPr>
              <a:t>6</a:t>
            </a:fld>
            <a:endParaRPr lang="en-IN" altLang="en-US"/>
          </a:p>
        </p:txBody>
      </p:sp>
      <p:graphicFrame>
        <p:nvGraphicFramePr>
          <p:cNvPr id="5" name="Table 4"/>
          <p:cNvGraphicFramePr>
            <a:graphicFrameLocks noGrp="1"/>
          </p:cNvGraphicFramePr>
          <p:nvPr/>
        </p:nvGraphicFramePr>
        <p:xfrm>
          <a:off x="0" y="1214422"/>
          <a:ext cx="9001155" cy="5458782"/>
        </p:xfrm>
        <a:graphic>
          <a:graphicData uri="http://schemas.openxmlformats.org/drawingml/2006/table">
            <a:tbl>
              <a:tblPr firstRow="1" bandRow="1">
                <a:tableStyleId>{0505E3EF-67EA-436B-97B2-0124C06EBD24}</a:tableStyleId>
              </a:tblPr>
              <a:tblGrid>
                <a:gridCol w="664020"/>
                <a:gridCol w="1844499"/>
                <a:gridCol w="2434739"/>
                <a:gridCol w="2065839"/>
                <a:gridCol w="1992058"/>
              </a:tblGrid>
              <a:tr h="642942">
                <a:tc>
                  <a:txBody>
                    <a:bodyPr/>
                    <a:lstStyle/>
                    <a:p>
                      <a:pPr algn="ctr"/>
                      <a:r>
                        <a:rPr lang="en-US" dirty="0" smtClean="0"/>
                        <a:t>SL</a:t>
                      </a:r>
                      <a:r>
                        <a:rPr lang="en-US" baseline="0" dirty="0" smtClean="0"/>
                        <a:t> no.</a:t>
                      </a:r>
                      <a:endParaRPr lang="en-US" dirty="0"/>
                    </a:p>
                  </a:txBody>
                  <a:tcPr/>
                </a:tc>
                <a:tc>
                  <a:txBody>
                    <a:bodyPr/>
                    <a:lstStyle/>
                    <a:p>
                      <a:pPr algn="ctr"/>
                      <a:r>
                        <a:rPr lang="en-US" dirty="0" smtClean="0"/>
                        <a:t>TITLE</a:t>
                      </a:r>
                      <a:endParaRPr lang="en-US" dirty="0"/>
                    </a:p>
                  </a:txBody>
                  <a:tcPr/>
                </a:tc>
                <a:tc>
                  <a:txBody>
                    <a:bodyPr/>
                    <a:lstStyle/>
                    <a:p>
                      <a:r>
                        <a:rPr lang="en-US" dirty="0" smtClean="0"/>
                        <a:t>TECHNICAL</a:t>
                      </a:r>
                      <a:r>
                        <a:rPr lang="en-US" baseline="0" dirty="0" smtClean="0"/>
                        <a:t> ASPECTS</a:t>
                      </a:r>
                      <a:endParaRPr lang="en-US" dirty="0"/>
                    </a:p>
                  </a:txBody>
                  <a:tcPr/>
                </a:tc>
                <a:tc>
                  <a:txBody>
                    <a:bodyPr/>
                    <a:lstStyle/>
                    <a:p>
                      <a:r>
                        <a:rPr lang="en-US" dirty="0" smtClean="0"/>
                        <a:t>RESEARCH GAP</a:t>
                      </a:r>
                      <a:endParaRPr lang="en-US" dirty="0"/>
                    </a:p>
                  </a:txBody>
                  <a:tcPr/>
                </a:tc>
                <a:tc>
                  <a:txBody>
                    <a:bodyPr/>
                    <a:lstStyle/>
                    <a:p>
                      <a:r>
                        <a:rPr lang="en-US" dirty="0" smtClean="0"/>
                        <a:t>OUR KNOWLEDGE</a:t>
                      </a:r>
                      <a:endParaRPr lang="en-US" dirty="0"/>
                    </a:p>
                  </a:txBody>
                  <a:tcPr/>
                </a:tc>
              </a:tr>
              <a:tr h="2084541">
                <a:tc>
                  <a:txBody>
                    <a:bodyPr/>
                    <a:lstStyle/>
                    <a:p>
                      <a:r>
                        <a:rPr lang="en-US" dirty="0" smtClean="0"/>
                        <a:t>7</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latin typeface="Times New Roman" pitchFamily="18" charset="0"/>
                          <a:cs typeface="Times New Roman" pitchFamily="18" charset="0"/>
                        </a:rPr>
                        <a:t>Deep Learning Techniques for Diabetic Retinopathy Detection: A Comparative Study</a:t>
                      </a:r>
                    </a:p>
                    <a:p>
                      <a:r>
                        <a:rPr lang="en-US" dirty="0" smtClean="0">
                          <a:latin typeface="Times New Roman" pitchFamily="18" charset="0"/>
                          <a:cs typeface="Times New Roman" pitchFamily="18" charset="0"/>
                        </a:rPr>
                        <a:t>2023</a:t>
                      </a:r>
                      <a:endParaRPr lang="en-US" dirty="0">
                        <a:latin typeface="Times New Roman" pitchFamily="18" charset="0"/>
                        <a:cs typeface="Times New Roman" pitchFamily="18" charset="0"/>
                      </a:endParaRPr>
                    </a:p>
                  </a:txBody>
                  <a:tcPr/>
                </a:tc>
                <a:tc>
                  <a:txBody>
                    <a:bodyPr/>
                    <a:lstStyle/>
                    <a:p>
                      <a:r>
                        <a:rPr lang="en-US" sz="1600" dirty="0" smtClean="0">
                          <a:latin typeface="Times New Roman" pitchFamily="18" charset="0"/>
                          <a:cs typeface="Times New Roman" pitchFamily="18" charset="0"/>
                        </a:rPr>
                        <a:t>This study compares different deep learning methods for diabetic retinopathy detection, highlighting the efficacy of Singular Spectrum Analysis, CNN, and deep neural networks in various scenarios.</a:t>
                      </a:r>
                      <a:endParaRPr lang="en-US" sz="1600" dirty="0">
                        <a:latin typeface="Times New Roman" pitchFamily="18" charset="0"/>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latin typeface="Times New Roman" pitchFamily="18" charset="0"/>
                          <a:cs typeface="Times New Roman" pitchFamily="18" charset="0"/>
                        </a:rPr>
                        <a:t> Limited interpretability of the deep learning models, making them less acceptable to medical professionals.</a:t>
                      </a:r>
                    </a:p>
                  </a:txBody>
                  <a:tcPr/>
                </a:tc>
                <a:tc>
                  <a:txBody>
                    <a:bodyPr/>
                    <a:lstStyle/>
                    <a:p>
                      <a:r>
                        <a:rPr lang="en-US" sz="1600" dirty="0" smtClean="0">
                          <a:latin typeface="Times New Roman" pitchFamily="18" charset="0"/>
                          <a:cs typeface="Times New Roman" pitchFamily="18" charset="0"/>
                        </a:rPr>
                        <a:t>enhance model interpretability, ensuring that healthcare practitioners can confidently use these tools in their practice.</a:t>
                      </a:r>
                      <a:endParaRPr lang="en-US" sz="1600" dirty="0">
                        <a:latin typeface="Times New Roman" pitchFamily="18" charset="0"/>
                        <a:cs typeface="Times New Roman" pitchFamily="18" charset="0"/>
                      </a:endParaRPr>
                    </a:p>
                  </a:txBody>
                  <a:tcPr/>
                </a:tc>
              </a:tr>
              <a:tr h="2084541">
                <a:tc>
                  <a:txBody>
                    <a:bodyPr/>
                    <a:lstStyle/>
                    <a:p>
                      <a:r>
                        <a:rPr lang="en-US" dirty="0" smtClean="0"/>
                        <a:t>8</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800" dirty="0" smtClean="0">
                          <a:latin typeface="Times New Roman" pitchFamily="18" charset="0"/>
                          <a:cs typeface="Times New Roman" pitchFamily="18" charset="0"/>
                        </a:rPr>
                        <a:t>Diagnosis of Diabetic Retinopathy Using Hybrid Deep Learning Approach</a:t>
                      </a:r>
                    </a:p>
                    <a:p>
                      <a:r>
                        <a:rPr lang="en-US" dirty="0" smtClean="0">
                          <a:latin typeface="Times New Roman" pitchFamily="18" charset="0"/>
                          <a:cs typeface="Times New Roman" pitchFamily="18" charset="0"/>
                        </a:rPr>
                        <a:t>(2023)</a:t>
                      </a:r>
                      <a:endParaRPr lang="en-US" dirty="0">
                        <a:latin typeface="Times New Roman" pitchFamily="18" charset="0"/>
                        <a:cs typeface="Times New Roman" pitchFamily="18" charset="0"/>
                      </a:endParaRPr>
                    </a:p>
                  </a:txBody>
                  <a:tcPr/>
                </a:tc>
                <a:tc>
                  <a:txBody>
                    <a:bodyPr/>
                    <a:lstStyle/>
                    <a:p>
                      <a:r>
                        <a:rPr lang="en-US" sz="1600" dirty="0" smtClean="0">
                          <a:latin typeface="Times New Roman" pitchFamily="18" charset="0"/>
                          <a:cs typeface="Times New Roman" pitchFamily="18" charset="0"/>
                        </a:rPr>
                        <a:t>The paper proposes a hybrid approach that combines Hybrid Convolutional Neural Networks with decision tree algorithms to enhance diagnostic accuracy.</a:t>
                      </a:r>
                      <a:endParaRPr lang="en-US" sz="1600" dirty="0">
                        <a:latin typeface="Times New Roman" pitchFamily="18" charset="0"/>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latin typeface="Times New Roman" pitchFamily="18" charset="0"/>
                          <a:cs typeface="Times New Roman" pitchFamily="18" charset="0"/>
                        </a:rPr>
                        <a:t> Need for efficient integration of deep learning with traditional classifiers to enhance precision.</a:t>
                      </a:r>
                    </a:p>
                    <a:p>
                      <a:endParaRPr lang="en-US" sz="1600" dirty="0">
                        <a:latin typeface="Times New Roman" pitchFamily="18" charset="0"/>
                        <a:cs typeface="Times New Roman" pitchFamily="18" charset="0"/>
                      </a:endParaRPr>
                    </a:p>
                  </a:txBody>
                  <a:tcPr/>
                </a:tc>
                <a:tc>
                  <a:txBody>
                    <a:bodyPr/>
                    <a:lstStyle/>
                    <a:p>
                      <a:r>
                        <a:rPr lang="en-US" sz="1600" dirty="0" smtClean="0">
                          <a:latin typeface="Times New Roman" pitchFamily="18" charset="0"/>
                          <a:cs typeface="Times New Roman" pitchFamily="18" charset="0"/>
                        </a:rPr>
                        <a:t>This hybrid approach can help overcome limitations of both methods, addressing issues such as data imbalance and providing more comprehensive insights for clinical decision-making</a:t>
                      </a:r>
                      <a:endParaRPr lang="en-US" sz="1600" dirty="0">
                        <a:latin typeface="Times New Roman" pitchFamily="18" charset="0"/>
                        <a:cs typeface="Times New Roman" pitchFamily="18" charset="0"/>
                      </a:endParaRPr>
                    </a:p>
                  </a:txBody>
                  <a:tcPr/>
                </a:tc>
              </a:tr>
            </a:tbl>
          </a:graphicData>
        </a:graphic>
      </p:graphicFrame>
      <p:sp>
        <p:nvSpPr>
          <p:cNvPr id="6" name="TextBox 5"/>
          <p:cNvSpPr txBox="1"/>
          <p:nvPr/>
        </p:nvSpPr>
        <p:spPr>
          <a:xfrm>
            <a:off x="2285984" y="571480"/>
            <a:ext cx="3857652" cy="800219"/>
          </a:xfrm>
          <a:prstGeom prst="rect">
            <a:avLst/>
          </a:prstGeom>
          <a:noFill/>
        </p:spPr>
        <p:txBody>
          <a:bodyPr wrap="square" rtlCol="0">
            <a:spAutoFit/>
          </a:bodyPr>
          <a:lstStyle/>
          <a:p>
            <a:pPr algn="ctr"/>
            <a:r>
              <a:rPr lang="en-IN" altLang="en-US" sz="2800" b="1" u="sng" dirty="0" smtClean="0">
                <a:latin typeface="Times New Roman" pitchFamily="18" charset="0"/>
                <a:cs typeface="Times New Roman" pitchFamily="18" charset="0"/>
              </a:rPr>
              <a:t>Literature Survey</a:t>
            </a:r>
          </a:p>
          <a:p>
            <a:endParaRPr lang="en-US" dirty="0"/>
          </a:p>
        </p:txBody>
      </p:sp>
      <p:pic>
        <p:nvPicPr>
          <p:cNvPr id="7" name="Picture 7" descr="GITAM NEW LOGO green@3x.png"/>
          <p:cNvPicPr>
            <a:picLocks noChangeAspect="1"/>
          </p:cNvPicPr>
          <p:nvPr/>
        </p:nvPicPr>
        <p:blipFill>
          <a:blip r:embed="rId2"/>
          <a:srcRect/>
          <a:stretch>
            <a:fillRect/>
          </a:stretch>
        </p:blipFill>
        <p:spPr bwMode="auto">
          <a:xfrm>
            <a:off x="6715125" y="214313"/>
            <a:ext cx="2286000" cy="9937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49A513DB-2AF1-46C8-9D03-C0522DDE71C4}" type="slidenum">
              <a:rPr lang="en-IN" altLang="en-US" smtClean="0"/>
              <a:pPr>
                <a:defRPr/>
              </a:pPr>
              <a:t>7</a:t>
            </a:fld>
            <a:endParaRPr lang="en-IN" altLang="en-US"/>
          </a:p>
        </p:txBody>
      </p:sp>
      <p:graphicFrame>
        <p:nvGraphicFramePr>
          <p:cNvPr id="5" name="Table 4"/>
          <p:cNvGraphicFramePr>
            <a:graphicFrameLocks noGrp="1"/>
          </p:cNvGraphicFramePr>
          <p:nvPr/>
        </p:nvGraphicFramePr>
        <p:xfrm>
          <a:off x="285720" y="1214422"/>
          <a:ext cx="8715435" cy="5143536"/>
        </p:xfrm>
        <a:graphic>
          <a:graphicData uri="http://schemas.openxmlformats.org/drawingml/2006/table">
            <a:tbl>
              <a:tblPr firstRow="1" bandRow="1">
                <a:tableStyleId>{0505E3EF-67EA-436B-97B2-0124C06EBD24}</a:tableStyleId>
              </a:tblPr>
              <a:tblGrid>
                <a:gridCol w="642942"/>
                <a:gridCol w="1785950"/>
                <a:gridCol w="2357454"/>
                <a:gridCol w="2000264"/>
                <a:gridCol w="1928825"/>
              </a:tblGrid>
              <a:tr h="974454">
                <a:tc>
                  <a:txBody>
                    <a:bodyPr/>
                    <a:lstStyle/>
                    <a:p>
                      <a:pPr algn="ctr"/>
                      <a:r>
                        <a:rPr lang="en-US" dirty="0" smtClean="0"/>
                        <a:t>SL</a:t>
                      </a:r>
                      <a:r>
                        <a:rPr lang="en-US" baseline="0" dirty="0" smtClean="0"/>
                        <a:t> no.</a:t>
                      </a:r>
                      <a:endParaRPr lang="en-US" dirty="0"/>
                    </a:p>
                  </a:txBody>
                  <a:tcPr/>
                </a:tc>
                <a:tc>
                  <a:txBody>
                    <a:bodyPr/>
                    <a:lstStyle/>
                    <a:p>
                      <a:pPr algn="ctr"/>
                      <a:r>
                        <a:rPr lang="en-US" dirty="0" smtClean="0"/>
                        <a:t>TITLE</a:t>
                      </a:r>
                      <a:endParaRPr lang="en-US" dirty="0"/>
                    </a:p>
                  </a:txBody>
                  <a:tcPr/>
                </a:tc>
                <a:tc>
                  <a:txBody>
                    <a:bodyPr/>
                    <a:lstStyle/>
                    <a:p>
                      <a:r>
                        <a:rPr lang="en-US" dirty="0" smtClean="0"/>
                        <a:t>TECHNICAL</a:t>
                      </a:r>
                      <a:r>
                        <a:rPr lang="en-US" baseline="0" dirty="0" smtClean="0"/>
                        <a:t> ASPECTS</a:t>
                      </a:r>
                      <a:endParaRPr lang="en-US" dirty="0"/>
                    </a:p>
                  </a:txBody>
                  <a:tcPr/>
                </a:tc>
                <a:tc>
                  <a:txBody>
                    <a:bodyPr/>
                    <a:lstStyle/>
                    <a:p>
                      <a:r>
                        <a:rPr lang="en-US" dirty="0" smtClean="0"/>
                        <a:t>RESEARCH GAP</a:t>
                      </a:r>
                      <a:endParaRPr lang="en-US" dirty="0"/>
                    </a:p>
                  </a:txBody>
                  <a:tcPr/>
                </a:tc>
                <a:tc>
                  <a:txBody>
                    <a:bodyPr/>
                    <a:lstStyle/>
                    <a:p>
                      <a:r>
                        <a:rPr lang="en-US" dirty="0" smtClean="0"/>
                        <a:t>OUR KNOWLEDGE</a:t>
                      </a:r>
                      <a:endParaRPr lang="en-US" dirty="0"/>
                    </a:p>
                  </a:txBody>
                  <a:tcPr/>
                </a:tc>
              </a:tr>
              <a:tr h="2084541">
                <a:tc>
                  <a:txBody>
                    <a:bodyPr/>
                    <a:lstStyle/>
                    <a:p>
                      <a:r>
                        <a:rPr lang="en-US" dirty="0" smtClean="0"/>
                        <a:t>9</a:t>
                      </a:r>
                      <a:endParaRPr lang="en-US" dirty="0"/>
                    </a:p>
                  </a:txBody>
                  <a:tcPr/>
                </a:tc>
                <a:tc>
                  <a:txBody>
                    <a:bodyPr/>
                    <a:lstStyle/>
                    <a:p>
                      <a:r>
                        <a:rPr lang="en-US" sz="1600" dirty="0" smtClean="0">
                          <a:latin typeface="Times New Roman" pitchFamily="18" charset="0"/>
                          <a:cs typeface="Times New Roman" pitchFamily="18" charset="0"/>
                        </a:rPr>
                        <a:t>Retinal Image Classification Using Ensemble Deep Learning Models</a:t>
                      </a:r>
                    </a:p>
                    <a:p>
                      <a:r>
                        <a:rPr lang="en-US" sz="1600" dirty="0" smtClean="0">
                          <a:latin typeface="Times New Roman" pitchFamily="18" charset="0"/>
                          <a:cs typeface="Times New Roman" pitchFamily="18" charset="0"/>
                        </a:rPr>
                        <a:t>(2022)</a:t>
                      </a:r>
                      <a:endParaRPr lang="en-US" sz="1600" dirty="0">
                        <a:latin typeface="Times New Roman" pitchFamily="18" charset="0"/>
                        <a:cs typeface="Times New Roman" pitchFamily="18" charset="0"/>
                      </a:endParaRPr>
                    </a:p>
                  </a:txBody>
                  <a:tcPr/>
                </a:tc>
                <a:tc>
                  <a:txBody>
                    <a:bodyPr/>
                    <a:lstStyle/>
                    <a:p>
                      <a:r>
                        <a:rPr lang="en-US" sz="1600" dirty="0" smtClean="0">
                          <a:latin typeface="Times New Roman" pitchFamily="18" charset="0"/>
                          <a:cs typeface="Times New Roman" pitchFamily="18" charset="0"/>
                        </a:rPr>
                        <a:t>This study evaluates ensemble methods that use multiple deep learning models to classify retinal images, focusing on deep visual features.</a:t>
                      </a:r>
                      <a:endParaRPr lang="en-US" sz="1600" dirty="0">
                        <a:latin typeface="Times New Roman" pitchFamily="18" charset="0"/>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latin typeface="Times New Roman" pitchFamily="18" charset="0"/>
                          <a:cs typeface="Times New Roman" pitchFamily="18" charset="0"/>
                        </a:rPr>
                        <a:t> Ensemble models require more computational resources, leading to implementation challenges in real-time diagnosis.</a:t>
                      </a:r>
                    </a:p>
                  </a:txBody>
                  <a:tcPr/>
                </a:tc>
                <a:tc>
                  <a:txBody>
                    <a:bodyPr/>
                    <a:lstStyle/>
                    <a:p>
                      <a:r>
                        <a:rPr lang="en-US" sz="1600" dirty="0" smtClean="0">
                          <a:latin typeface="Times New Roman" pitchFamily="18" charset="0"/>
                          <a:cs typeface="Times New Roman" pitchFamily="18" charset="0"/>
                        </a:rPr>
                        <a:t>optimizing ensemble methods for efficiency without compromising accuracy is essential for practical application in healthcare settings.</a:t>
                      </a:r>
                      <a:endParaRPr lang="en-US" sz="1600" dirty="0">
                        <a:latin typeface="Times New Roman" pitchFamily="18" charset="0"/>
                        <a:cs typeface="Times New Roman" pitchFamily="18" charset="0"/>
                      </a:endParaRPr>
                    </a:p>
                  </a:txBody>
                  <a:tcPr/>
                </a:tc>
              </a:tr>
              <a:tr h="2084541">
                <a:tc>
                  <a:txBody>
                    <a:bodyPr/>
                    <a:lstStyle/>
                    <a:p>
                      <a:r>
                        <a:rPr lang="en-US" dirty="0" smtClean="0"/>
                        <a:t>10</a:t>
                      </a:r>
                      <a:endParaRPr lang="en-US" dirty="0"/>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latin typeface="Times New Roman" pitchFamily="18" charset="0"/>
                          <a:cs typeface="Times New Roman" pitchFamily="18" charset="0"/>
                        </a:rPr>
                        <a:t>Adaptive Transfer Learning for Retinopathy Screening</a:t>
                      </a:r>
                    </a:p>
                    <a:p>
                      <a:endParaRPr lang="en-US" sz="1600" dirty="0">
                        <a:latin typeface="Times New Roman" pitchFamily="18" charset="0"/>
                        <a:cs typeface="Times New Roman" pitchFamily="18" charset="0"/>
                      </a:endParaRPr>
                    </a:p>
                  </a:txBody>
                  <a:tcPr/>
                </a:tc>
                <a:tc>
                  <a:txBody>
                    <a:bodyPr/>
                    <a:lstStyle/>
                    <a:p>
                      <a:r>
                        <a:rPr lang="en-US" sz="1600" dirty="0" smtClean="0">
                          <a:latin typeface="Times New Roman" pitchFamily="18" charset="0"/>
                          <a:cs typeface="Times New Roman" pitchFamily="18" charset="0"/>
                        </a:rPr>
                        <a:t>This study proposes adaptive transfer learning, incorporating adaptive fine-tuning, to handle different types of retinal images from diverse sources.</a:t>
                      </a:r>
                      <a:endParaRPr lang="en-US" sz="1600" dirty="0">
                        <a:latin typeface="Times New Roman" pitchFamily="18" charset="0"/>
                        <a:cs typeface="Times New Roman"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600" dirty="0" smtClean="0">
                          <a:latin typeface="Times New Roman" pitchFamily="18" charset="0"/>
                          <a:cs typeface="Times New Roman" pitchFamily="18" charset="0"/>
                        </a:rPr>
                        <a:t> Handling variation in image quality from different acquisition devices remains a significant challenge.</a:t>
                      </a:r>
                    </a:p>
                  </a:txBody>
                  <a:tcPr/>
                </a:tc>
                <a:tc>
                  <a:txBody>
                    <a:bodyPr/>
                    <a:lstStyle/>
                    <a:p>
                      <a:r>
                        <a:rPr lang="en-US" sz="1600" dirty="0" smtClean="0">
                          <a:latin typeface="Times New Roman" pitchFamily="18" charset="0"/>
                          <a:cs typeface="Times New Roman" pitchFamily="18" charset="0"/>
                        </a:rPr>
                        <a:t>standardize or compensate for these differences, ensuring reliable analysis and interpretation across various devices.</a:t>
                      </a:r>
                      <a:endParaRPr lang="en-US" sz="1600" dirty="0">
                        <a:latin typeface="Times New Roman" pitchFamily="18" charset="0"/>
                        <a:cs typeface="Times New Roman" pitchFamily="18" charset="0"/>
                      </a:endParaRPr>
                    </a:p>
                  </a:txBody>
                  <a:tcPr/>
                </a:tc>
              </a:tr>
            </a:tbl>
          </a:graphicData>
        </a:graphic>
      </p:graphicFrame>
      <p:sp>
        <p:nvSpPr>
          <p:cNvPr id="6" name="TextBox 5"/>
          <p:cNvSpPr txBox="1"/>
          <p:nvPr/>
        </p:nvSpPr>
        <p:spPr>
          <a:xfrm>
            <a:off x="2285984" y="571480"/>
            <a:ext cx="3857652" cy="800219"/>
          </a:xfrm>
          <a:prstGeom prst="rect">
            <a:avLst/>
          </a:prstGeom>
          <a:noFill/>
        </p:spPr>
        <p:txBody>
          <a:bodyPr wrap="square" rtlCol="0">
            <a:spAutoFit/>
          </a:bodyPr>
          <a:lstStyle/>
          <a:p>
            <a:pPr algn="ctr"/>
            <a:r>
              <a:rPr lang="en-IN" altLang="en-US" sz="2800" b="1" u="sng" dirty="0" smtClean="0">
                <a:latin typeface="Times New Roman" pitchFamily="18" charset="0"/>
                <a:cs typeface="Times New Roman" pitchFamily="18" charset="0"/>
              </a:rPr>
              <a:t>Literature Survey</a:t>
            </a:r>
          </a:p>
          <a:p>
            <a:endParaRPr lang="en-US" dirty="0"/>
          </a:p>
        </p:txBody>
      </p:sp>
      <p:pic>
        <p:nvPicPr>
          <p:cNvPr id="7" name="Picture 7" descr="GITAM NEW LOGO green@3x.png"/>
          <p:cNvPicPr>
            <a:picLocks noChangeAspect="1"/>
          </p:cNvPicPr>
          <p:nvPr/>
        </p:nvPicPr>
        <p:blipFill>
          <a:blip r:embed="rId2"/>
          <a:srcRect/>
          <a:stretch>
            <a:fillRect/>
          </a:stretch>
        </p:blipFill>
        <p:spPr bwMode="auto">
          <a:xfrm>
            <a:off x="6715125" y="214313"/>
            <a:ext cx="2286000" cy="9937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7" descr="GITAM NEW LOGO green@3x.png"/>
          <p:cNvPicPr>
            <a:picLocks noChangeAspect="1"/>
          </p:cNvPicPr>
          <p:nvPr/>
        </p:nvPicPr>
        <p:blipFill>
          <a:blip r:embed="rId2"/>
          <a:srcRect/>
          <a:stretch>
            <a:fillRect/>
          </a:stretch>
        </p:blipFill>
        <p:spPr bwMode="auto">
          <a:xfrm>
            <a:off x="6715125" y="214313"/>
            <a:ext cx="2286000" cy="993775"/>
          </a:xfrm>
          <a:prstGeom prst="rect">
            <a:avLst/>
          </a:prstGeom>
          <a:noFill/>
          <a:ln w="9525">
            <a:noFill/>
            <a:miter lim="800000"/>
            <a:headEnd/>
            <a:tailEnd/>
          </a:ln>
        </p:spPr>
      </p:pic>
      <p:sp>
        <p:nvSpPr>
          <p:cNvPr id="7" name="TextBox 6"/>
          <p:cNvSpPr txBox="1"/>
          <p:nvPr/>
        </p:nvSpPr>
        <p:spPr>
          <a:xfrm>
            <a:off x="1428728" y="285728"/>
            <a:ext cx="5072098" cy="523220"/>
          </a:xfrm>
          <a:prstGeom prst="rect">
            <a:avLst/>
          </a:prstGeom>
          <a:noFill/>
        </p:spPr>
        <p:txBody>
          <a:bodyPr wrap="square" rtlCol="0">
            <a:spAutoFit/>
          </a:bodyPr>
          <a:lstStyle/>
          <a:p>
            <a:r>
              <a:rPr lang="en-US" sz="2800" b="1" u="sng" dirty="0" smtClean="0">
                <a:latin typeface="Times New Roman" panose="02020603050405020304" pitchFamily="18" charset="0"/>
                <a:cs typeface="Times New Roman" panose="02020603050405020304" pitchFamily="18" charset="0"/>
              </a:rPr>
              <a:t>Problem statement &amp; Solution</a:t>
            </a:r>
          </a:p>
        </p:txBody>
      </p:sp>
      <p:sp>
        <p:nvSpPr>
          <p:cNvPr id="8" name="TextBox 7"/>
          <p:cNvSpPr txBox="1"/>
          <p:nvPr/>
        </p:nvSpPr>
        <p:spPr>
          <a:xfrm>
            <a:off x="285720" y="928670"/>
            <a:ext cx="8572560" cy="5816977"/>
          </a:xfrm>
          <a:prstGeom prst="rect">
            <a:avLst/>
          </a:prstGeom>
          <a:noFill/>
        </p:spPr>
        <p:txBody>
          <a:bodyPr wrap="square" rtlCol="0">
            <a:spAutoFit/>
          </a:bodyPr>
          <a:lstStyle/>
          <a:p>
            <a:r>
              <a:rPr lang="en-US" sz="2400" dirty="0" smtClean="0">
                <a:latin typeface="Times New Roman" pitchFamily="18" charset="0"/>
                <a:cs typeface="Times New Roman" pitchFamily="18" charset="0"/>
              </a:rPr>
              <a:t>Some eye diseases can progress silently, causing permanent vision loss if undetected. Current diagnostic methods depend on manual exams, which are time-consuming, error-prone, and difficult in areas with limited specialized care.</a:t>
            </a:r>
          </a:p>
          <a:p>
            <a:endParaRPr lang="en-US" sz="2300" dirty="0" smtClean="0">
              <a:latin typeface="Times New Roman" pitchFamily="18" charset="0"/>
              <a:cs typeface="Times New Roman" pitchFamily="18" charset="0"/>
            </a:endParaRPr>
          </a:p>
          <a:p>
            <a:r>
              <a:rPr lang="en-US" sz="2300" b="1" dirty="0" smtClean="0">
                <a:latin typeface="Times New Roman" pitchFamily="18" charset="0"/>
                <a:cs typeface="Times New Roman" pitchFamily="18" charset="0"/>
              </a:rPr>
              <a:t>Solution</a:t>
            </a:r>
            <a:r>
              <a:rPr lang="en-US" sz="2300" dirty="0" smtClean="0">
                <a:latin typeface="Times New Roman" pitchFamily="18" charset="0"/>
                <a:cs typeface="Times New Roman" pitchFamily="18" charset="0"/>
              </a:rPr>
              <a:t>:</a:t>
            </a:r>
          </a:p>
          <a:p>
            <a:pPr>
              <a:buFont typeface="Wingdings" pitchFamily="2" charset="2"/>
              <a:buChar char="Ø"/>
            </a:pPr>
            <a:r>
              <a:rPr lang="en-US" sz="2300" dirty="0" smtClean="0">
                <a:latin typeface="Times New Roman" pitchFamily="18" charset="0"/>
                <a:cs typeface="Times New Roman" pitchFamily="18" charset="0"/>
              </a:rPr>
              <a:t>Develop a machine learning model to predict eye diseases using medical images, such as retinal scans.</a:t>
            </a:r>
          </a:p>
          <a:p>
            <a:pPr>
              <a:buFont typeface="Wingdings" pitchFamily="2" charset="2"/>
              <a:buChar char="Ø"/>
            </a:pPr>
            <a:r>
              <a:rPr lang="en-US" sz="2300" dirty="0" smtClean="0">
                <a:latin typeface="Times New Roman" pitchFamily="18" charset="0"/>
                <a:cs typeface="Times New Roman" pitchFamily="18" charset="0"/>
              </a:rPr>
              <a:t>Leverage advanced AI techniques, particularly </a:t>
            </a:r>
            <a:r>
              <a:rPr lang="en-US" sz="2300" b="1" dirty="0" smtClean="0">
                <a:latin typeface="Times New Roman" pitchFamily="18" charset="0"/>
                <a:cs typeface="Times New Roman" pitchFamily="18" charset="0"/>
              </a:rPr>
              <a:t>Convolutional Neural Networks (CNNs).</a:t>
            </a:r>
          </a:p>
          <a:p>
            <a:pPr>
              <a:buFont typeface="Wingdings" pitchFamily="2" charset="2"/>
              <a:buChar char="Ø"/>
            </a:pPr>
            <a:r>
              <a:rPr lang="en-US" sz="2300" dirty="0" smtClean="0">
                <a:latin typeface="Times New Roman" pitchFamily="18" charset="0"/>
                <a:cs typeface="Times New Roman" pitchFamily="18" charset="0"/>
              </a:rPr>
              <a:t>Detect patterns and abnormalities in eye images that may be overlooked by the human eye.</a:t>
            </a:r>
          </a:p>
          <a:p>
            <a:pPr>
              <a:buFont typeface="Wingdings" pitchFamily="2" charset="2"/>
              <a:buChar char="Ø"/>
            </a:pPr>
            <a:r>
              <a:rPr lang="en-US" sz="2300" dirty="0" smtClean="0">
                <a:latin typeface="Times New Roman" pitchFamily="18" charset="0"/>
                <a:cs typeface="Times New Roman" pitchFamily="18" charset="0"/>
              </a:rPr>
              <a:t>Provide an automated system to assist healthcare providers in early diagnosis.</a:t>
            </a:r>
          </a:p>
          <a:p>
            <a:pPr>
              <a:buFont typeface="Wingdings" pitchFamily="2" charset="2"/>
              <a:buChar char="Ø"/>
            </a:pPr>
            <a:r>
              <a:rPr lang="en-US" sz="2300" dirty="0" smtClean="0">
                <a:latin typeface="Times New Roman" pitchFamily="18" charset="0"/>
                <a:cs typeface="Times New Roman" pitchFamily="18" charset="0"/>
              </a:rPr>
              <a:t>Enable timely interventions to prevent disease progression and improve patient outcomes.</a:t>
            </a:r>
            <a:endParaRPr lang="en-US" sz="2300" dirty="0">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000108"/>
          </a:xfrm>
        </p:spPr>
        <p:txBody>
          <a:bodyPr/>
          <a:lstStyle/>
          <a:p>
            <a:r>
              <a:rPr lang="en-US" sz="2800" u="sng" dirty="0" smtClean="0">
                <a:latin typeface="Times New Roman" pitchFamily="18" charset="0"/>
                <a:cs typeface="Times New Roman" pitchFamily="18" charset="0"/>
              </a:rPr>
              <a:t>Flowchart</a:t>
            </a:r>
            <a:endParaRPr lang="en-US" sz="2800" u="sng" dirty="0">
              <a:latin typeface="Times New Roman" pitchFamily="18" charset="0"/>
              <a:cs typeface="Times New Roman" pitchFamily="18" charset="0"/>
            </a:endParaRPr>
          </a:p>
        </p:txBody>
      </p:sp>
      <p:sp>
        <p:nvSpPr>
          <p:cNvPr id="3" name="Content Placeholder 2"/>
          <p:cNvSpPr>
            <a:spLocks noGrp="1"/>
          </p:cNvSpPr>
          <p:nvPr>
            <p:ph idx="1"/>
          </p:nvPr>
        </p:nvSpPr>
        <p:spPr/>
        <p:txBody>
          <a:bodyPr/>
          <a:lstStyle/>
          <a:p>
            <a:endParaRPr lang="en-US" dirty="0" smtClean="0"/>
          </a:p>
          <a:p>
            <a:endParaRPr lang="en-US" dirty="0" smtClean="0"/>
          </a:p>
        </p:txBody>
      </p:sp>
      <p:sp>
        <p:nvSpPr>
          <p:cNvPr id="4" name="Slide Number Placeholder 3"/>
          <p:cNvSpPr>
            <a:spLocks noGrp="1"/>
          </p:cNvSpPr>
          <p:nvPr>
            <p:ph type="sldNum" sz="quarter" idx="12"/>
          </p:nvPr>
        </p:nvSpPr>
        <p:spPr/>
        <p:txBody>
          <a:bodyPr/>
          <a:lstStyle/>
          <a:p>
            <a:fld id="{F0738450-70D8-4DD6-ADD5-DF995D6A1100}" type="slidenum">
              <a:rPr lang="en-IN" altLang="en-US" smtClean="0"/>
              <a:pPr/>
              <a:t>9</a:t>
            </a:fld>
            <a:endParaRPr lang="en-IN" altLang="en-US"/>
          </a:p>
        </p:txBody>
      </p:sp>
      <p:pic>
        <p:nvPicPr>
          <p:cNvPr id="8" name="Picture 7" descr="Screenshot 2024-09-27 220423.png"/>
          <p:cNvPicPr>
            <a:picLocks noChangeAspect="1"/>
          </p:cNvPicPr>
          <p:nvPr/>
        </p:nvPicPr>
        <p:blipFill>
          <a:blip r:embed="rId2"/>
          <a:stretch>
            <a:fillRect/>
          </a:stretch>
        </p:blipFill>
        <p:spPr>
          <a:xfrm>
            <a:off x="1142976" y="833074"/>
            <a:ext cx="6858048" cy="5882074"/>
          </a:xfrm>
          <a:prstGeom prst="rect">
            <a:avLst/>
          </a:prstGeom>
        </p:spPr>
      </p:pic>
      <p:pic>
        <p:nvPicPr>
          <p:cNvPr id="6" name="Picture 7" descr="GITAM NEW LOGO green@3x.png"/>
          <p:cNvPicPr>
            <a:picLocks noChangeAspect="1"/>
          </p:cNvPicPr>
          <p:nvPr/>
        </p:nvPicPr>
        <p:blipFill>
          <a:blip r:embed="rId3"/>
          <a:srcRect/>
          <a:stretch>
            <a:fillRect/>
          </a:stretch>
        </p:blipFill>
        <p:spPr bwMode="auto">
          <a:xfrm>
            <a:off x="6715125" y="214313"/>
            <a:ext cx="2286000" cy="9937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68869733-2D55-45F5-AD42-777424F96348}" type="slidenum">
              <a:rPr lang="en-US" altLang="en-US" smtClean="0"/>
              <a:pPr>
                <a:defRPr/>
              </a:pPr>
              <a:t>10</a:t>
            </a:fld>
            <a:endParaRPr lang="en-US" altLang="en-US"/>
          </a:p>
        </p:txBody>
      </p:sp>
      <p:sp>
        <p:nvSpPr>
          <p:cNvPr id="3" name="TextBox 2"/>
          <p:cNvSpPr txBox="1"/>
          <p:nvPr/>
        </p:nvSpPr>
        <p:spPr>
          <a:xfrm>
            <a:off x="642910" y="642918"/>
            <a:ext cx="6786610" cy="584775"/>
          </a:xfrm>
          <a:prstGeom prst="rect">
            <a:avLst/>
          </a:prstGeom>
          <a:noFill/>
        </p:spPr>
        <p:txBody>
          <a:bodyPr wrap="square" rtlCol="0">
            <a:spAutoFit/>
          </a:bodyPr>
          <a:lstStyle/>
          <a:p>
            <a:r>
              <a:rPr lang="en-US" sz="3200" b="1" u="sng" dirty="0" smtClean="0">
                <a:latin typeface="Times New Roman" pitchFamily="18" charset="0"/>
                <a:cs typeface="Times New Roman" pitchFamily="18" charset="0"/>
              </a:rPr>
              <a:t>Dataset :</a:t>
            </a:r>
            <a:endParaRPr lang="en-US" sz="3200" b="1" u="sng" dirty="0">
              <a:latin typeface="Times New Roman" pitchFamily="18" charset="0"/>
              <a:cs typeface="Times New Roman" pitchFamily="18" charset="0"/>
            </a:endParaRPr>
          </a:p>
        </p:txBody>
      </p:sp>
      <p:sp>
        <p:nvSpPr>
          <p:cNvPr id="4" name="TextBox 3"/>
          <p:cNvSpPr txBox="1"/>
          <p:nvPr/>
        </p:nvSpPr>
        <p:spPr>
          <a:xfrm>
            <a:off x="214282" y="1643050"/>
            <a:ext cx="8715436" cy="2554545"/>
          </a:xfrm>
          <a:prstGeom prst="rect">
            <a:avLst/>
          </a:prstGeom>
          <a:noFill/>
        </p:spPr>
        <p:txBody>
          <a:bodyPr wrap="square" rtlCol="0">
            <a:spAutoFit/>
          </a:bodyPr>
          <a:lstStyle/>
          <a:p>
            <a:r>
              <a:rPr lang="en-US" sz="2000" b="1" dirty="0" smtClean="0"/>
              <a:t>EYE DISEASE CLASSIFICATION</a:t>
            </a:r>
          </a:p>
          <a:p>
            <a:r>
              <a:rPr lang="en-US" sz="2000" dirty="0" smtClean="0"/>
              <a:t>The dataset consists of Normal, Diabetic Retinopathy, Cataract and Glaucoma retinal images where each class have approximately 1000 images. These images are collected from various </a:t>
            </a:r>
            <a:r>
              <a:rPr lang="en-US" sz="2000" dirty="0" err="1" smtClean="0"/>
              <a:t>sorces</a:t>
            </a:r>
            <a:r>
              <a:rPr lang="en-US" sz="2000" dirty="0" smtClean="0"/>
              <a:t> like </a:t>
            </a:r>
            <a:r>
              <a:rPr lang="en-US" sz="2000" dirty="0" err="1" smtClean="0"/>
              <a:t>IDRiD</a:t>
            </a:r>
            <a:r>
              <a:rPr lang="en-US" sz="2000" dirty="0" smtClean="0"/>
              <a:t>, </a:t>
            </a:r>
            <a:r>
              <a:rPr lang="en-US" sz="2000" dirty="0" err="1" smtClean="0"/>
              <a:t>Oculur</a:t>
            </a:r>
            <a:r>
              <a:rPr lang="en-US" sz="2000" dirty="0" smtClean="0"/>
              <a:t> recognition, HRF etc.</a:t>
            </a:r>
            <a:endParaRPr lang="en-US" sz="2000" b="1" dirty="0" smtClean="0"/>
          </a:p>
          <a:p>
            <a:r>
              <a:rPr lang="en-US" sz="2000" dirty="0" smtClean="0"/>
              <a:t>Found 4221 files belonging to 4 classes</a:t>
            </a:r>
            <a:r>
              <a:rPr lang="en-US" sz="2000" dirty="0" smtClean="0"/>
              <a:t>.</a:t>
            </a:r>
          </a:p>
          <a:p>
            <a:r>
              <a:rPr lang="en-US" sz="2000" u="sng" dirty="0" smtClean="0">
                <a:hlinkClick r:id="rId2"/>
              </a:rPr>
              <a:t>https://www.kaggle.com/datasets/gunavenkatdoddi/eye-diseases-classification</a:t>
            </a:r>
            <a:r>
              <a:rPr lang="en-US" sz="2000" dirty="0" smtClean="0"/>
              <a:t> </a:t>
            </a:r>
            <a:endParaRPr lang="en-US" sz="2000" dirty="0" smtClean="0"/>
          </a:p>
          <a:p>
            <a:r>
              <a:rPr lang="en-US" sz="2000" dirty="0" smtClean="0"/>
              <a:t/>
            </a:r>
            <a:br>
              <a:rPr lang="en-US" sz="2000" dirty="0" smtClean="0"/>
            </a:br>
            <a:r>
              <a:rPr lang="en-US" sz="2000" b="1" dirty="0" smtClean="0"/>
              <a:t> </a:t>
            </a:r>
            <a:endParaRPr lang="en-US" sz="2000" b="1" dirty="0"/>
          </a:p>
        </p:txBody>
      </p:sp>
      <p:pic>
        <p:nvPicPr>
          <p:cNvPr id="6" name="Picture 7" descr="GITAM NEW LOGO green@3x.png"/>
          <p:cNvPicPr>
            <a:picLocks noChangeAspect="1"/>
          </p:cNvPicPr>
          <p:nvPr/>
        </p:nvPicPr>
        <p:blipFill>
          <a:blip r:embed="rId3"/>
          <a:srcRect/>
          <a:stretch>
            <a:fillRect/>
          </a:stretch>
        </p:blipFill>
        <p:spPr bwMode="auto">
          <a:xfrm>
            <a:off x="6715125" y="214313"/>
            <a:ext cx="2286000" cy="9937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7" descr="GITAM NEW LOGO green@3x.png"/>
          <p:cNvPicPr>
            <a:picLocks noChangeAspect="1"/>
          </p:cNvPicPr>
          <p:nvPr/>
        </p:nvPicPr>
        <p:blipFill>
          <a:blip r:embed="rId2"/>
          <a:srcRect/>
          <a:stretch>
            <a:fillRect/>
          </a:stretch>
        </p:blipFill>
        <p:spPr bwMode="auto">
          <a:xfrm>
            <a:off x="6715125" y="214313"/>
            <a:ext cx="2286000" cy="993775"/>
          </a:xfrm>
          <a:prstGeom prst="rect">
            <a:avLst/>
          </a:prstGeom>
          <a:noFill/>
          <a:ln w="9525">
            <a:noFill/>
            <a:miter lim="800000"/>
            <a:headEnd/>
            <a:tailEnd/>
          </a:ln>
        </p:spPr>
      </p:pic>
      <p:sp>
        <p:nvSpPr>
          <p:cNvPr id="4" name="TextBox 3"/>
          <p:cNvSpPr txBox="1"/>
          <p:nvPr/>
        </p:nvSpPr>
        <p:spPr>
          <a:xfrm>
            <a:off x="857224" y="500042"/>
            <a:ext cx="4714908" cy="523220"/>
          </a:xfrm>
          <a:prstGeom prst="rect">
            <a:avLst/>
          </a:prstGeom>
          <a:noFill/>
        </p:spPr>
        <p:txBody>
          <a:bodyPr wrap="square" rtlCol="0">
            <a:spAutoFit/>
          </a:bodyPr>
          <a:lstStyle/>
          <a:p>
            <a:pPr algn="ctr"/>
            <a:r>
              <a:rPr lang="en-US" sz="2800" b="1" u="sng" dirty="0" smtClean="0">
                <a:latin typeface="Times New Roman" pitchFamily="18" charset="0"/>
                <a:cs typeface="Times New Roman" pitchFamily="18" charset="0"/>
              </a:rPr>
              <a:t>System Requirements</a:t>
            </a:r>
          </a:p>
        </p:txBody>
      </p:sp>
      <p:graphicFrame>
        <p:nvGraphicFramePr>
          <p:cNvPr id="6" name="Table 5"/>
          <p:cNvGraphicFramePr>
            <a:graphicFrameLocks noGrp="1"/>
          </p:cNvGraphicFramePr>
          <p:nvPr/>
        </p:nvGraphicFramePr>
        <p:xfrm>
          <a:off x="357158" y="1397000"/>
          <a:ext cx="8358246" cy="4960958"/>
        </p:xfrm>
        <a:graphic>
          <a:graphicData uri="http://schemas.openxmlformats.org/drawingml/2006/table">
            <a:tbl>
              <a:tblPr firstRow="1" bandRow="1">
                <a:tableStyleId>{3C2FFA5D-87B4-456A-9821-1D502468CF0F}</a:tableStyleId>
              </a:tblPr>
              <a:tblGrid>
                <a:gridCol w="4179123"/>
                <a:gridCol w="4179123"/>
              </a:tblGrid>
              <a:tr h="772909">
                <a:tc>
                  <a:txBody>
                    <a:bodyPr/>
                    <a:lstStyle/>
                    <a:p>
                      <a:pPr algn="ctr"/>
                      <a:r>
                        <a:rPr lang="en-US" dirty="0" smtClean="0"/>
                        <a:t>HARDWARE</a:t>
                      </a:r>
                      <a:endParaRPr lang="en-US" dirty="0"/>
                    </a:p>
                  </a:txBody>
                  <a:tcPr/>
                </a:tc>
                <a:tc>
                  <a:txBody>
                    <a:bodyPr/>
                    <a:lstStyle/>
                    <a:p>
                      <a:pPr algn="ctr"/>
                      <a:r>
                        <a:rPr lang="en-US" dirty="0" smtClean="0"/>
                        <a:t>SOFTWARE</a:t>
                      </a:r>
                      <a:endParaRPr lang="en-US" dirty="0"/>
                    </a:p>
                  </a:txBody>
                  <a:tcPr/>
                </a:tc>
              </a:tr>
              <a:tr h="4188049">
                <a:tc>
                  <a:txBody>
                    <a:bodyPr/>
                    <a:lstStyle/>
                    <a:p>
                      <a:pPr algn="ctr">
                        <a:buFont typeface="Wingdings" pitchFamily="2" charset="2"/>
                        <a:buNone/>
                      </a:pPr>
                      <a:r>
                        <a:rPr lang="en-US" sz="1800" b="1" dirty="0" smtClean="0"/>
                        <a:t>CPU</a:t>
                      </a:r>
                      <a:r>
                        <a:rPr lang="en-US" sz="1800" dirty="0" smtClean="0"/>
                        <a:t>: Core processor.</a:t>
                      </a:r>
                    </a:p>
                    <a:p>
                      <a:pPr algn="ctr">
                        <a:buFont typeface="Wingdings" pitchFamily="2" charset="2"/>
                        <a:buNone/>
                      </a:pPr>
                      <a:endParaRPr lang="en-US" sz="1800" dirty="0" smtClean="0"/>
                    </a:p>
                    <a:p>
                      <a:pPr algn="ctr">
                        <a:buFont typeface="Wingdings" pitchFamily="2" charset="2"/>
                        <a:buNone/>
                      </a:pPr>
                      <a:r>
                        <a:rPr lang="en-US" sz="1800" b="1" dirty="0" smtClean="0"/>
                        <a:t>RAM</a:t>
                      </a:r>
                      <a:r>
                        <a:rPr lang="en-US" sz="1800" dirty="0" smtClean="0"/>
                        <a:t>:  4 GB</a:t>
                      </a:r>
                      <a:r>
                        <a:rPr lang="en-US" sz="1800" baseline="0" dirty="0" smtClean="0"/>
                        <a:t> and more</a:t>
                      </a:r>
                    </a:p>
                    <a:p>
                      <a:pPr algn="ctr">
                        <a:buFont typeface="Wingdings" pitchFamily="2" charset="2"/>
                        <a:buNone/>
                      </a:pPr>
                      <a:endParaRPr lang="en-US" sz="1800" dirty="0" smtClean="0"/>
                    </a:p>
                    <a:p>
                      <a:pPr algn="ctr">
                        <a:buFont typeface="Wingdings" pitchFamily="2" charset="2"/>
                        <a:buNone/>
                      </a:pPr>
                      <a:r>
                        <a:rPr lang="en-US" sz="1800" b="1" dirty="0" smtClean="0"/>
                        <a:t>Storage</a:t>
                      </a:r>
                      <a:r>
                        <a:rPr lang="en-US" sz="1800" dirty="0" smtClean="0"/>
                        <a:t>: 128 GB HDD</a:t>
                      </a:r>
                    </a:p>
                    <a:p>
                      <a:pPr algn="ctr">
                        <a:buFont typeface="Wingdings" pitchFamily="2" charset="2"/>
                        <a:buNone/>
                      </a:pPr>
                      <a:endParaRPr lang="en-US" sz="1800" dirty="0" smtClean="0"/>
                    </a:p>
                    <a:p>
                      <a:pPr algn="ctr">
                        <a:buFont typeface="Wingdings" pitchFamily="2" charset="2"/>
                        <a:buNone/>
                      </a:pPr>
                      <a:r>
                        <a:rPr lang="en-US" sz="1800" b="1" dirty="0" smtClean="0"/>
                        <a:t>Operating System</a:t>
                      </a:r>
                      <a:r>
                        <a:rPr lang="en-US" sz="1800" dirty="0" smtClean="0"/>
                        <a:t>: Windows </a:t>
                      </a:r>
                      <a:endParaRPr lang="en-US" sz="1800" dirty="0"/>
                    </a:p>
                  </a:txBody>
                  <a:tcPr/>
                </a:tc>
                <a:tc>
                  <a:txBody>
                    <a:bodyPr/>
                    <a:lstStyle/>
                    <a:p>
                      <a:pPr algn="ctr"/>
                      <a:r>
                        <a:rPr lang="en-US" sz="1600" dirty="0" smtClean="0"/>
                        <a:t>operating system Linux (Preferred for deep learning frameworks due to better support and compatibility)</a:t>
                      </a:r>
                    </a:p>
                    <a:p>
                      <a:pPr algn="ctr"/>
                      <a:endParaRPr lang="en-US" sz="1600" dirty="0" smtClean="0"/>
                    </a:p>
                    <a:p>
                      <a:pPr algn="ctr"/>
                      <a:r>
                        <a:rPr lang="en-US" sz="1600" dirty="0" smtClean="0"/>
                        <a:t>Machine Learning Libraries</a:t>
                      </a:r>
                    </a:p>
                    <a:p>
                      <a:pPr algn="ctr"/>
                      <a:endParaRPr lang="en-US" sz="1600" dirty="0" smtClean="0"/>
                    </a:p>
                    <a:p>
                      <a:pPr algn="ctr"/>
                      <a:r>
                        <a:rPr lang="en-US" sz="1600" dirty="0" smtClean="0"/>
                        <a:t>Medical Imaging Libraries</a:t>
                      </a:r>
                    </a:p>
                    <a:p>
                      <a:pPr algn="ctr"/>
                      <a:endParaRPr lang="en-US" sz="1600" dirty="0" smtClean="0"/>
                    </a:p>
                    <a:p>
                      <a:pPr algn="ctr"/>
                      <a:r>
                        <a:rPr lang="en-US" sz="1600" dirty="0" smtClean="0"/>
                        <a:t>Python Environment</a:t>
                      </a:r>
                    </a:p>
                    <a:p>
                      <a:pPr algn="ctr"/>
                      <a:r>
                        <a:rPr lang="en-US" sz="1600" dirty="0" smtClean="0"/>
                        <a:t>Python 3.7 or higher</a:t>
                      </a:r>
                    </a:p>
                    <a:p>
                      <a:pPr algn="ctr"/>
                      <a:endParaRPr lang="en-US" sz="1600" dirty="0" smtClean="0"/>
                    </a:p>
                    <a:p>
                      <a:pPr algn="ctr"/>
                      <a:r>
                        <a:rPr lang="en-US" sz="1600" dirty="0" smtClean="0"/>
                        <a:t>Cloud Computing (Optional)Google </a:t>
                      </a:r>
                      <a:r>
                        <a:rPr lang="en-US" sz="1600" dirty="0" err="1" smtClean="0"/>
                        <a:t>Colab</a:t>
                      </a:r>
                      <a:r>
                        <a:rPr lang="en-US" sz="1600" dirty="0" smtClean="0"/>
                        <a:t> (for cloud-based GPU access)</a:t>
                      </a:r>
                    </a:p>
                    <a:p>
                      <a:pPr algn="ctr"/>
                      <a:endParaRPr lang="en-US" sz="1600" dirty="0" smtClean="0"/>
                    </a:p>
                    <a:p>
                      <a:pPr algn="ctr"/>
                      <a:r>
                        <a:rPr lang="en-US" sz="1600" dirty="0" smtClean="0"/>
                        <a:t>Integrated Development Environment (IDE)Visual Studio Code</a:t>
                      </a:r>
                      <a:endParaRPr lang="en-US" sz="1600" dirty="0"/>
                    </a:p>
                  </a:txBody>
                  <a:tcPr/>
                </a:tc>
              </a:tr>
            </a:tbl>
          </a:graphicData>
        </a:graphic>
      </p:graphicFrame>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68869733-2D55-45F5-AD42-777424F96348}" type="slidenum">
              <a:rPr lang="en-US" altLang="en-US" smtClean="0"/>
              <a:pPr>
                <a:defRPr/>
              </a:pPr>
              <a:t>12</a:t>
            </a:fld>
            <a:endParaRPr lang="en-US" altLang="en-US"/>
          </a:p>
        </p:txBody>
      </p:sp>
      <p:sp>
        <p:nvSpPr>
          <p:cNvPr id="3" name="TextBox 2"/>
          <p:cNvSpPr txBox="1"/>
          <p:nvPr/>
        </p:nvSpPr>
        <p:spPr>
          <a:xfrm>
            <a:off x="0" y="500042"/>
            <a:ext cx="9144000" cy="6124754"/>
          </a:xfrm>
          <a:prstGeom prst="rect">
            <a:avLst/>
          </a:prstGeom>
          <a:noFill/>
        </p:spPr>
        <p:txBody>
          <a:bodyPr wrap="square" rtlCol="0">
            <a:spAutoFit/>
          </a:bodyPr>
          <a:lstStyle/>
          <a:p>
            <a:pPr algn="ctr"/>
            <a:r>
              <a:rPr lang="en-US" sz="3200" b="1" u="sng" dirty="0" smtClean="0">
                <a:latin typeface="Times New Roman" pitchFamily="18" charset="0"/>
                <a:cs typeface="Times New Roman" pitchFamily="18" charset="0"/>
              </a:rPr>
              <a:t>Conclusion</a:t>
            </a:r>
          </a:p>
          <a:p>
            <a:r>
              <a:rPr lang="en-US" sz="2000" dirty="0" smtClean="0">
                <a:latin typeface="Times New Roman" pitchFamily="18" charset="0"/>
                <a:cs typeface="Times New Roman" pitchFamily="18" charset="0"/>
              </a:rPr>
              <a:t>The </a:t>
            </a:r>
            <a:r>
              <a:rPr lang="en-US" sz="2000" dirty="0" smtClean="0">
                <a:latin typeface="Times New Roman" pitchFamily="18" charset="0"/>
                <a:cs typeface="Times New Roman" pitchFamily="18" charset="0"/>
              </a:rPr>
              <a:t>eye disease classification model achieving an accuracy of 92% demonstrates strong effectiveness in identifying and categorizing various eye conditions. This high accuracy indicates that the model can reliably support clinical decision-making, contributing to timely and accurate diagnoses.</a:t>
            </a:r>
          </a:p>
          <a:p>
            <a:r>
              <a:rPr lang="en-US" sz="2000" b="1" dirty="0" smtClean="0">
                <a:latin typeface="Times New Roman" pitchFamily="18" charset="0"/>
                <a:cs typeface="Times New Roman" pitchFamily="18" charset="0"/>
              </a:rPr>
              <a:t>Performance Metrics:</a:t>
            </a:r>
            <a:endParaRPr lang="en-US" sz="2000" dirty="0" smtClean="0">
              <a:latin typeface="Times New Roman" pitchFamily="18" charset="0"/>
              <a:cs typeface="Times New Roman" pitchFamily="18" charset="0"/>
            </a:endParaRPr>
          </a:p>
          <a:p>
            <a:r>
              <a:rPr lang="en-US" sz="2000" b="1" dirty="0" smtClean="0">
                <a:latin typeface="Times New Roman" pitchFamily="18" charset="0"/>
                <a:cs typeface="Times New Roman" pitchFamily="18" charset="0"/>
              </a:rPr>
              <a:t>Accuracy</a:t>
            </a:r>
            <a:r>
              <a:rPr lang="en-US" sz="2000" dirty="0" smtClean="0">
                <a:latin typeface="Times New Roman" pitchFamily="18" charset="0"/>
                <a:cs typeface="Times New Roman" pitchFamily="18" charset="0"/>
              </a:rPr>
              <a:t>: 92%</a:t>
            </a:r>
          </a:p>
          <a:p>
            <a:r>
              <a:rPr lang="en-US" sz="2000" b="1" dirty="0" smtClean="0">
                <a:latin typeface="Times New Roman" pitchFamily="18" charset="0"/>
                <a:cs typeface="Times New Roman" pitchFamily="18" charset="0"/>
              </a:rPr>
              <a:t>Precision</a:t>
            </a:r>
            <a:r>
              <a:rPr lang="en-US" sz="2000"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(83.31%) </a:t>
            </a:r>
            <a:r>
              <a:rPr lang="en-US" sz="2000" dirty="0" smtClean="0">
                <a:latin typeface="Times New Roman" pitchFamily="18" charset="0"/>
                <a:cs typeface="Times New Roman" pitchFamily="18" charset="0"/>
              </a:rPr>
              <a:t>– Measures the model's ability to correctly identify positive cases.</a:t>
            </a:r>
          </a:p>
          <a:p>
            <a:r>
              <a:rPr lang="en-US" sz="2000" b="1" dirty="0" smtClean="0">
                <a:latin typeface="Times New Roman" pitchFamily="18" charset="0"/>
                <a:cs typeface="Times New Roman" pitchFamily="18" charset="0"/>
              </a:rPr>
              <a:t>Recall (Sensitivity)</a:t>
            </a:r>
            <a:r>
              <a:rPr lang="en-US" sz="2000"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(83.31%) </a:t>
            </a:r>
            <a:r>
              <a:rPr lang="en-US" sz="2000" dirty="0" smtClean="0">
                <a:latin typeface="Times New Roman" pitchFamily="18" charset="0"/>
                <a:cs typeface="Times New Roman" pitchFamily="18" charset="0"/>
              </a:rPr>
              <a:t>– Indicates the model's ability to capture all relevant positive cases.</a:t>
            </a:r>
          </a:p>
          <a:p>
            <a:r>
              <a:rPr lang="en-US" sz="2000" b="1" dirty="0" smtClean="0">
                <a:latin typeface="Times New Roman" pitchFamily="18" charset="0"/>
                <a:cs typeface="Times New Roman" pitchFamily="18" charset="0"/>
              </a:rPr>
              <a:t>F1 Score</a:t>
            </a:r>
            <a:r>
              <a:rPr lang="en-US" sz="2000"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(83.31%) </a:t>
            </a:r>
            <a:r>
              <a:rPr lang="en-US" sz="2000" dirty="0" smtClean="0">
                <a:latin typeface="Times New Roman" pitchFamily="18" charset="0"/>
                <a:cs typeface="Times New Roman" pitchFamily="18" charset="0"/>
              </a:rPr>
              <a:t>– The harmonic mean of precision and recall, balancing both metrics.</a:t>
            </a:r>
          </a:p>
          <a:p>
            <a:r>
              <a:rPr lang="en-US" sz="2000" b="1" dirty="0" smtClean="0">
                <a:latin typeface="Times New Roman" pitchFamily="18" charset="0"/>
                <a:cs typeface="Times New Roman" pitchFamily="18" charset="0"/>
              </a:rPr>
              <a:t>Specificity</a:t>
            </a:r>
            <a:r>
              <a:rPr lang="en-US" sz="2000" dirty="0" smtClean="0">
                <a:latin typeface="Times New Roman" pitchFamily="18" charset="0"/>
                <a:cs typeface="Times New Roman" pitchFamily="18" charset="0"/>
              </a:rPr>
              <a:t>: </a:t>
            </a:r>
            <a:r>
              <a:rPr lang="en-US" sz="2000" dirty="0" smtClean="0">
                <a:latin typeface="Times New Roman" pitchFamily="18" charset="0"/>
                <a:cs typeface="Times New Roman" pitchFamily="18" charset="0"/>
              </a:rPr>
              <a:t>( 84%) </a:t>
            </a:r>
            <a:r>
              <a:rPr lang="en-US" sz="2000" dirty="0" smtClean="0">
                <a:latin typeface="Times New Roman" pitchFamily="18" charset="0"/>
                <a:cs typeface="Times New Roman" pitchFamily="18" charset="0"/>
              </a:rPr>
              <a:t>– Measures the model's ability to correctly identify negative cases.</a:t>
            </a:r>
          </a:p>
          <a:p>
            <a:r>
              <a:rPr lang="en-US" sz="2000" b="1" dirty="0" smtClean="0">
                <a:latin typeface="Times New Roman" pitchFamily="18" charset="0"/>
                <a:cs typeface="Times New Roman" pitchFamily="18" charset="0"/>
              </a:rPr>
              <a:t>AUC</a:t>
            </a:r>
            <a:r>
              <a:rPr lang="en-US" sz="2000" dirty="0" smtClean="0">
                <a:latin typeface="Times New Roman" pitchFamily="18" charset="0"/>
                <a:cs typeface="Times New Roman" pitchFamily="18" charset="0"/>
              </a:rPr>
              <a:t>: (0.95</a:t>
            </a:r>
            <a:r>
              <a:rPr lang="en-US" sz="2000" dirty="0" smtClean="0">
                <a:latin typeface="Times New Roman" pitchFamily="18" charset="0"/>
                <a:cs typeface="Times New Roman" pitchFamily="18" charset="0"/>
              </a:rPr>
              <a:t>) – Represents the model's ability to distinguish between classes across various thresholds.</a:t>
            </a:r>
          </a:p>
          <a:p>
            <a:r>
              <a:rPr lang="en-US" sz="2000" dirty="0" smtClean="0">
                <a:latin typeface="Times New Roman" pitchFamily="18" charset="0"/>
                <a:cs typeface="Times New Roman" pitchFamily="18" charset="0"/>
              </a:rPr>
              <a:t>Overall, these performance metrics collectively demonstrate that the model not only achieves high accuracy but also maintains a good balance between precision and recall, making it a valuable tool for eye disease classification in clinical practice. Ongoing validation and refinement will further enhance its reliability and effectiveness.</a:t>
            </a:r>
            <a:endParaRPr lang="en-US" sz="2000" dirty="0">
              <a:latin typeface="Times New Roman" pitchFamily="18" charset="0"/>
              <a:cs typeface="Times New Roman" pitchFamily="18" charset="0"/>
            </a:endParaRPr>
          </a:p>
        </p:txBody>
      </p:sp>
      <p:pic>
        <p:nvPicPr>
          <p:cNvPr id="4" name="Picture 7" descr="GITAM NEW LOGO green@3x.png"/>
          <p:cNvPicPr>
            <a:picLocks noChangeAspect="1"/>
          </p:cNvPicPr>
          <p:nvPr/>
        </p:nvPicPr>
        <p:blipFill>
          <a:blip r:embed="rId2"/>
          <a:srcRect/>
          <a:stretch>
            <a:fillRect/>
          </a:stretch>
        </p:blipFill>
        <p:spPr bwMode="auto">
          <a:xfrm>
            <a:off x="6715125" y="214313"/>
            <a:ext cx="2286000" cy="993775"/>
          </a:xfrm>
          <a:prstGeom prst="rect">
            <a:avLst/>
          </a:prstGeom>
          <a:noFill/>
          <a:ln w="9525">
            <a:noFill/>
            <a:miter lim="800000"/>
            <a:headEnd/>
            <a:tailEnd/>
          </a:ln>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pPr>
              <a:defRPr/>
            </a:pPr>
            <a:fld id="{68869733-2D55-45F5-AD42-777424F96348}" type="slidenum">
              <a:rPr lang="en-US" altLang="en-US" smtClean="0"/>
              <a:pPr>
                <a:defRPr/>
              </a:pPr>
              <a:t>13</a:t>
            </a:fld>
            <a:endParaRPr lang="en-US" altLang="en-US"/>
          </a:p>
        </p:txBody>
      </p:sp>
      <p:sp>
        <p:nvSpPr>
          <p:cNvPr id="3" name="TextBox 2"/>
          <p:cNvSpPr txBox="1"/>
          <p:nvPr/>
        </p:nvSpPr>
        <p:spPr>
          <a:xfrm>
            <a:off x="0" y="500042"/>
            <a:ext cx="9144000" cy="584775"/>
          </a:xfrm>
          <a:prstGeom prst="rect">
            <a:avLst/>
          </a:prstGeom>
          <a:noFill/>
        </p:spPr>
        <p:txBody>
          <a:bodyPr wrap="square" rtlCol="0">
            <a:spAutoFit/>
          </a:bodyPr>
          <a:lstStyle/>
          <a:p>
            <a:pPr algn="ctr"/>
            <a:r>
              <a:rPr lang="en-US" sz="3200" b="1" u="sng" dirty="0" smtClean="0">
                <a:latin typeface="Times New Roman" pitchFamily="18" charset="0"/>
                <a:cs typeface="Times New Roman" pitchFamily="18" charset="0"/>
              </a:rPr>
              <a:t>Feature analysis</a:t>
            </a:r>
          </a:p>
        </p:txBody>
      </p:sp>
      <p:pic>
        <p:nvPicPr>
          <p:cNvPr id="4" name="Picture 7" descr="GITAM NEW LOGO green@3x.png"/>
          <p:cNvPicPr>
            <a:picLocks noChangeAspect="1"/>
          </p:cNvPicPr>
          <p:nvPr/>
        </p:nvPicPr>
        <p:blipFill>
          <a:blip r:embed="rId2"/>
          <a:srcRect/>
          <a:stretch>
            <a:fillRect/>
          </a:stretch>
        </p:blipFill>
        <p:spPr bwMode="auto">
          <a:xfrm>
            <a:off x="6715125" y="214313"/>
            <a:ext cx="2286000" cy="993775"/>
          </a:xfrm>
          <a:prstGeom prst="rect">
            <a:avLst/>
          </a:prstGeom>
          <a:noFill/>
          <a:ln w="9525">
            <a:noFill/>
            <a:miter lim="800000"/>
            <a:headEnd/>
            <a:tailEnd/>
          </a:ln>
        </p:spPr>
      </p:pic>
      <p:sp>
        <p:nvSpPr>
          <p:cNvPr id="6" name="TextBox 5"/>
          <p:cNvSpPr txBox="1"/>
          <p:nvPr/>
        </p:nvSpPr>
        <p:spPr>
          <a:xfrm>
            <a:off x="0" y="1071546"/>
            <a:ext cx="8786842" cy="5632311"/>
          </a:xfrm>
          <a:prstGeom prst="rect">
            <a:avLst/>
          </a:prstGeom>
          <a:noFill/>
        </p:spPr>
        <p:txBody>
          <a:bodyPr wrap="square" rtlCol="0">
            <a:spAutoFit/>
          </a:bodyPr>
          <a:lstStyle/>
          <a:p>
            <a:r>
              <a:rPr lang="en-US" sz="2000" b="1" dirty="0" smtClean="0"/>
              <a:t>1. Importance of Features:</a:t>
            </a:r>
            <a:r>
              <a:rPr lang="en-US" sz="2000" dirty="0" smtClean="0"/>
              <a:t/>
            </a:r>
            <a:br>
              <a:rPr lang="en-US" sz="2000" dirty="0" smtClean="0"/>
            </a:br>
            <a:r>
              <a:rPr lang="en-US" sz="2000" dirty="0" smtClean="0"/>
              <a:t>Key features extracted from retinal images, like texture, color, and lesion shape, are essential for identifying eye diseases.</a:t>
            </a:r>
          </a:p>
          <a:p>
            <a:r>
              <a:rPr lang="en-US" sz="2000" b="1" dirty="0" smtClean="0"/>
              <a:t>2. Key Features:</a:t>
            </a:r>
            <a:endParaRPr lang="en-US" sz="2000" dirty="0" smtClean="0"/>
          </a:p>
          <a:p>
            <a:pPr>
              <a:buFont typeface="Arial" pitchFamily="34" charset="0"/>
              <a:buChar char="•"/>
            </a:pPr>
            <a:r>
              <a:rPr lang="en-US" sz="2000" b="1" dirty="0" smtClean="0"/>
              <a:t>Optic Disc Appearance</a:t>
            </a:r>
            <a:r>
              <a:rPr lang="en-US" sz="2000" dirty="0" smtClean="0"/>
              <a:t>: Size and shape, important for glaucoma detection.</a:t>
            </a:r>
          </a:p>
          <a:p>
            <a:pPr>
              <a:buFont typeface="Arial" pitchFamily="34" charset="0"/>
              <a:buChar char="•"/>
            </a:pPr>
            <a:r>
              <a:rPr lang="en-US" sz="2000" b="1" dirty="0" smtClean="0"/>
              <a:t>Retinal Lesions</a:t>
            </a:r>
            <a:r>
              <a:rPr lang="en-US" sz="2000" dirty="0" smtClean="0"/>
              <a:t>: Presence and type, critical for diagnosing diabetic retinopathy.</a:t>
            </a:r>
          </a:p>
          <a:p>
            <a:pPr>
              <a:buFont typeface="Arial" pitchFamily="34" charset="0"/>
              <a:buChar char="•"/>
            </a:pPr>
            <a:r>
              <a:rPr lang="en-US" sz="2000" b="1" dirty="0" smtClean="0"/>
              <a:t>Blood Vessel Patterns</a:t>
            </a:r>
            <a:r>
              <a:rPr lang="en-US" sz="2000" dirty="0" smtClean="0"/>
              <a:t>: Changes can indicate various retinal diseases.</a:t>
            </a:r>
          </a:p>
          <a:p>
            <a:pPr>
              <a:buFont typeface="Arial" pitchFamily="34" charset="0"/>
              <a:buChar char="•"/>
            </a:pPr>
            <a:r>
              <a:rPr lang="en-US" sz="2000" b="1" dirty="0" smtClean="0"/>
              <a:t>Color Variations</a:t>
            </a:r>
            <a:r>
              <a:rPr lang="en-US" sz="2000" dirty="0" smtClean="0"/>
              <a:t>: Subtle differences help spot abnormalities.</a:t>
            </a:r>
          </a:p>
          <a:p>
            <a:r>
              <a:rPr lang="en-US" sz="2000" b="1" dirty="0" smtClean="0"/>
              <a:t>3. Feature Extraction Techniques:</a:t>
            </a:r>
            <a:r>
              <a:rPr lang="en-US" sz="2000" dirty="0" smtClean="0"/>
              <a:t/>
            </a:r>
            <a:br>
              <a:rPr lang="en-US" sz="2000" dirty="0" smtClean="0"/>
            </a:br>
            <a:r>
              <a:rPr lang="en-US" sz="2000" dirty="0" smtClean="0"/>
              <a:t>Convolutional layers in the neural network automatically learn complex patterns, while image processing enhances feature visibility.</a:t>
            </a:r>
          </a:p>
          <a:p>
            <a:r>
              <a:rPr lang="en-US" sz="2000" b="1" dirty="0" smtClean="0"/>
              <a:t>4. Feature Selection:</a:t>
            </a:r>
            <a:r>
              <a:rPr lang="en-US" sz="2000" dirty="0" smtClean="0"/>
              <a:t/>
            </a:r>
            <a:br>
              <a:rPr lang="en-US" sz="2000" dirty="0" smtClean="0"/>
            </a:br>
            <a:r>
              <a:rPr lang="en-US" sz="2000" dirty="0" smtClean="0"/>
              <a:t>Correlation analysis and feature importance scores help identify the most impactful features, while techniques like PCA reduce noise.</a:t>
            </a:r>
          </a:p>
          <a:p>
            <a:r>
              <a:rPr lang="en-US" sz="2000" b="1" dirty="0" smtClean="0"/>
              <a:t>5. Model Interpretation:</a:t>
            </a:r>
            <a:r>
              <a:rPr lang="en-US" sz="2000" dirty="0" smtClean="0"/>
              <a:t/>
            </a:r>
            <a:br>
              <a:rPr lang="en-US" sz="2000" dirty="0" smtClean="0"/>
            </a:br>
            <a:r>
              <a:rPr lang="en-US" sz="2000" dirty="0" smtClean="0"/>
              <a:t>Tools like Grad-CAM visualize which image parts influenced decisions, improving interpretability, along with feature importance graphs showing contributions to performance.</a:t>
            </a:r>
            <a:endParaRPr lang="en-US" sz="2000" dirty="0"/>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noChangeArrowheads="1"/>
          </p:cNvSpPr>
          <p:nvPr>
            <p:ph type="title"/>
          </p:nvPr>
        </p:nvSpPr>
        <p:spPr>
          <a:xfrm>
            <a:off x="1928793" y="285728"/>
            <a:ext cx="4143405" cy="857255"/>
          </a:xfrm>
        </p:spPr>
        <p:txBody>
          <a:bodyPr/>
          <a:lstStyle/>
          <a:p>
            <a:pPr algn="just" eaLnBrk="1" hangingPunct="1"/>
            <a:r>
              <a:rPr lang="en-US" altLang="en-US" sz="2800" b="1" u="sng" dirty="0" err="1" smtClean="0">
                <a:latin typeface="Times New Roman" pitchFamily="18" charset="0"/>
                <a:cs typeface="Times New Roman" pitchFamily="18" charset="0"/>
              </a:rPr>
              <a:t>Research&amp;References</a:t>
            </a:r>
            <a:r>
              <a:rPr lang="en-IN" altLang="en-US" sz="2800" b="1" dirty="0" smtClean="0">
                <a:latin typeface="Times New Roman" pitchFamily="18" charset="0"/>
                <a:cs typeface="Times New Roman" pitchFamily="18" charset="0"/>
              </a:rPr>
              <a:t/>
            </a:r>
            <a:br>
              <a:rPr lang="en-IN" altLang="en-US" sz="2800" b="1" dirty="0" smtClean="0">
                <a:latin typeface="Times New Roman" pitchFamily="18" charset="0"/>
                <a:cs typeface="Times New Roman" pitchFamily="18" charset="0"/>
              </a:rPr>
            </a:br>
            <a:endParaRPr lang="en-IN" altLang="en-US" sz="2800" b="1" dirty="0" smtClean="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428596" y="1071546"/>
            <a:ext cx="8258204" cy="5429288"/>
          </a:xfrm>
        </p:spPr>
        <p:txBody>
          <a:bodyPr rtlCol="0">
            <a:noAutofit/>
          </a:bodyPr>
          <a:lstStyle/>
          <a:p>
            <a:pPr>
              <a:buFont typeface="Arial" pitchFamily="34" charset="0"/>
              <a:buChar char="•"/>
            </a:pPr>
            <a:r>
              <a:rPr lang="en-US" sz="2000" dirty="0" smtClean="0"/>
              <a:t>Deep Learning for Automated Diabetic Retinopathy Detection</a:t>
            </a:r>
            <a:endParaRPr lang="en-US" sz="2000" dirty="0" smtClean="0">
              <a:latin typeface="Bahnschrift Light" pitchFamily="34" charset="0"/>
            </a:endParaRPr>
          </a:p>
          <a:p>
            <a:pPr>
              <a:buFont typeface="Arial" pitchFamily="34" charset="0"/>
              <a:buChar char="•"/>
            </a:pPr>
            <a:r>
              <a:rPr lang="en-US" sz="2000" dirty="0" smtClean="0">
                <a:solidFill>
                  <a:schemeClr val="accent5">
                    <a:lumMod val="60000"/>
                    <a:lumOff val="40000"/>
                  </a:schemeClr>
                </a:solidFill>
                <a:latin typeface="Bahnschrift Light" pitchFamily="34" charset="0"/>
                <a:hlinkClick r:id="rId2"/>
              </a:rPr>
              <a:t>https://link.springer.com/chapter/10.1007/978-981-15-5788-0_64</a:t>
            </a:r>
            <a:endParaRPr lang="en-US" sz="2000" dirty="0" smtClean="0">
              <a:solidFill>
                <a:schemeClr val="accent5">
                  <a:lumMod val="60000"/>
                  <a:lumOff val="40000"/>
                </a:schemeClr>
              </a:solidFill>
              <a:latin typeface="Bahnschrift Light" pitchFamily="34" charset="0"/>
            </a:endParaRPr>
          </a:p>
          <a:p>
            <a:pPr>
              <a:buFont typeface="Arial" pitchFamily="34" charset="0"/>
              <a:buChar char="•"/>
            </a:pPr>
            <a:endParaRPr lang="en-US" sz="2000" dirty="0" smtClean="0">
              <a:latin typeface="Bahnschrift Light" pitchFamily="34" charset="0"/>
            </a:endParaRPr>
          </a:p>
          <a:p>
            <a:pPr>
              <a:buFont typeface="Arial" pitchFamily="34" charset="0"/>
              <a:buChar char="•"/>
            </a:pPr>
            <a:r>
              <a:rPr lang="en-US" sz="2000" dirty="0" smtClean="0"/>
              <a:t>Glaucoma Detection Using Deep Learning with Optic Disc and Cup Segmentation</a:t>
            </a:r>
            <a:endParaRPr lang="en-US" sz="2000" dirty="0" smtClean="0">
              <a:latin typeface="Bahnschrift Light" pitchFamily="34" charset="0"/>
            </a:endParaRPr>
          </a:p>
          <a:p>
            <a:pPr>
              <a:buFont typeface="Arial" pitchFamily="34" charset="0"/>
              <a:buChar char="•"/>
            </a:pPr>
            <a:r>
              <a:rPr lang="en-US" sz="2000" u="sng" dirty="0" smtClean="0">
                <a:solidFill>
                  <a:srgbClr val="0070C0"/>
                </a:solidFill>
                <a:latin typeface="Bahnschrift Light" pitchFamily="34" charset="0"/>
                <a:hlinkClick r:id="rId3"/>
              </a:rPr>
              <a:t>https://link.springer.com/article/10.1007/s11042-018-6985-7</a:t>
            </a:r>
            <a:endParaRPr lang="en-US" sz="2000" u="sng" dirty="0" smtClean="0">
              <a:solidFill>
                <a:srgbClr val="0070C0"/>
              </a:solidFill>
              <a:latin typeface="Bahnschrift Light" pitchFamily="34" charset="0"/>
            </a:endParaRPr>
          </a:p>
          <a:p>
            <a:pPr>
              <a:buFont typeface="Arial" pitchFamily="34" charset="0"/>
              <a:buChar char="•"/>
            </a:pPr>
            <a:endParaRPr lang="en-US" sz="2000" u="sng" dirty="0" smtClean="0">
              <a:solidFill>
                <a:srgbClr val="0070C0"/>
              </a:solidFill>
              <a:latin typeface="Bahnschrift Light" pitchFamily="34" charset="0"/>
            </a:endParaRPr>
          </a:p>
          <a:p>
            <a:pPr>
              <a:buFont typeface="Arial" pitchFamily="34" charset="0"/>
              <a:buChar char="•"/>
            </a:pPr>
            <a:r>
              <a:rPr lang="en-US" sz="2000" dirty="0" smtClean="0"/>
              <a:t>Ensemble Approach for Diabetic Retinopathy Detection Using Deep Learning</a:t>
            </a:r>
          </a:p>
          <a:p>
            <a:pPr>
              <a:buFont typeface="Arial" pitchFamily="34" charset="0"/>
              <a:buChar char="•"/>
            </a:pPr>
            <a:r>
              <a:rPr lang="en-US" sz="2000" dirty="0" smtClean="0">
                <a:hlinkClick r:id="rId4"/>
              </a:rPr>
              <a:t>https://ieeexplore.ieee.org/document/8869883</a:t>
            </a:r>
            <a:endParaRPr lang="en-US" sz="2000" dirty="0" smtClean="0"/>
          </a:p>
          <a:p>
            <a:pPr>
              <a:buFont typeface="Arial" pitchFamily="34" charset="0"/>
              <a:buChar char="•"/>
            </a:pPr>
            <a:endParaRPr lang="en-US" sz="2000" dirty="0" smtClean="0"/>
          </a:p>
          <a:p>
            <a:pPr>
              <a:buFont typeface="Arial" pitchFamily="34" charset="0"/>
              <a:buChar char="•"/>
            </a:pPr>
            <a:r>
              <a:rPr lang="en-US" sz="2000" dirty="0" smtClean="0"/>
              <a:t>Comprehensive Analysis of Retinal Images for Glaucoma Detection</a:t>
            </a:r>
          </a:p>
          <a:p>
            <a:pPr>
              <a:buFont typeface="Arial" pitchFamily="34" charset="0"/>
              <a:buChar char="•"/>
            </a:pPr>
            <a:r>
              <a:rPr lang="en-US" sz="2000" dirty="0" smtClean="0">
                <a:hlinkClick r:id="rId5"/>
              </a:rPr>
              <a:t>https://link.springer.com/article/10.1007/s11760-020-01815-z</a:t>
            </a:r>
            <a:endParaRPr lang="en-US" sz="2000" dirty="0" smtClean="0"/>
          </a:p>
          <a:p>
            <a:pPr>
              <a:buFont typeface="Arial" pitchFamily="34" charset="0"/>
              <a:buChar char="•"/>
            </a:pPr>
            <a:endParaRPr lang="en-US" sz="2000" dirty="0" smtClean="0"/>
          </a:p>
          <a:p>
            <a:pPr>
              <a:buFont typeface="Arial" pitchFamily="34" charset="0"/>
              <a:buChar char="•"/>
            </a:pPr>
            <a:endParaRPr lang="en-US" sz="2000" dirty="0" smtClean="0"/>
          </a:p>
          <a:p>
            <a:pPr>
              <a:buFont typeface="Arial" pitchFamily="34" charset="0"/>
              <a:buChar char="•"/>
            </a:pPr>
            <a:endParaRPr lang="en-US" sz="2000" dirty="0" smtClean="0"/>
          </a:p>
          <a:p>
            <a:pPr>
              <a:buFont typeface="Arial" pitchFamily="34" charset="0"/>
              <a:buChar char="•"/>
            </a:pPr>
            <a:endParaRPr lang="en-US" sz="2000" dirty="0" smtClean="0"/>
          </a:p>
          <a:p>
            <a:pPr>
              <a:buFont typeface="Arial" pitchFamily="34" charset="0"/>
              <a:buChar char="•"/>
            </a:pPr>
            <a:endParaRPr lang="en-US" sz="2000" u="sng" dirty="0" smtClean="0">
              <a:solidFill>
                <a:srgbClr val="0070C0"/>
              </a:solidFill>
              <a:latin typeface="Bahnschrift Light" pitchFamily="34" charset="0"/>
            </a:endParaRPr>
          </a:p>
          <a:p>
            <a:pPr>
              <a:buFont typeface="Arial" pitchFamily="34" charset="0"/>
              <a:buChar char="•"/>
            </a:pPr>
            <a:endParaRPr lang="en-US" sz="2000" u="sng" dirty="0" smtClean="0">
              <a:solidFill>
                <a:srgbClr val="0070C0"/>
              </a:solidFill>
              <a:latin typeface="Bahnschrift Light" pitchFamily="34" charset="0"/>
            </a:endParaRPr>
          </a:p>
          <a:p>
            <a:pPr algn="r">
              <a:buFont typeface="Arial" pitchFamily="34" charset="0"/>
              <a:buChar char="•"/>
            </a:pPr>
            <a:endParaRPr lang="en-US" sz="2000" u="sng" dirty="0" smtClean="0">
              <a:solidFill>
                <a:srgbClr val="0070C0"/>
              </a:solidFill>
              <a:latin typeface="Bahnschrift Light" pitchFamily="34" charset="0"/>
            </a:endParaRPr>
          </a:p>
          <a:p>
            <a:pPr>
              <a:buFont typeface="Arial" pitchFamily="34" charset="0"/>
              <a:buChar char="•"/>
            </a:pPr>
            <a:endParaRPr lang="en-US" sz="2000" dirty="0" smtClean="0">
              <a:latin typeface="Bahnschrift Light" pitchFamily="34" charset="0"/>
            </a:endParaRPr>
          </a:p>
          <a:p>
            <a:pPr>
              <a:buFont typeface="Arial" pitchFamily="34" charset="0"/>
              <a:buChar char="•"/>
            </a:pPr>
            <a:endParaRPr lang="en-US" sz="2000" dirty="0" smtClean="0">
              <a:latin typeface="Bahnschrift Light" pitchFamily="34" charset="0"/>
            </a:endParaRPr>
          </a:p>
        </p:txBody>
      </p:sp>
      <p:sp>
        <p:nvSpPr>
          <p:cNvPr id="13316" name="Slide Number Placeholder 1"/>
          <p:cNvSpPr>
            <a:spLocks noGrp="1" noChangeArrowheads="1"/>
          </p:cNvSpPr>
          <p:nvPr>
            <p:ph type="sldNum" sz="quarter" idx="12"/>
          </p:nvPr>
        </p:nvSpPr>
        <p:spPr bwMode="auto">
          <a:noFill/>
          <a:ln>
            <a:miter lim="800000"/>
            <a:headEnd/>
            <a:tailEnd/>
          </a:ln>
        </p:spPr>
        <p:txBody>
          <a:bodyPr/>
          <a:lstStyle/>
          <a:p>
            <a:fld id="{70A2F8F4-929C-4F45-B2B8-CE346DAF2304}" type="slidenum">
              <a:rPr lang="en-US" altLang="en-US" smtClean="0"/>
              <a:pPr/>
              <a:t>14</a:t>
            </a:fld>
            <a:endParaRPr lang="en-US" altLang="en-US" smtClean="0"/>
          </a:p>
        </p:txBody>
      </p:sp>
      <p:pic>
        <p:nvPicPr>
          <p:cNvPr id="6" name="Picture 7" descr="GITAM NEW LOGO green@3x.png"/>
          <p:cNvPicPr>
            <a:picLocks noChangeAspect="1"/>
          </p:cNvPicPr>
          <p:nvPr/>
        </p:nvPicPr>
        <p:blipFill>
          <a:blip r:embed="rId6"/>
          <a:srcRect/>
          <a:stretch>
            <a:fillRect/>
          </a:stretch>
        </p:blipFill>
        <p:spPr bwMode="auto">
          <a:xfrm>
            <a:off x="6715125" y="214313"/>
            <a:ext cx="2286000" cy="993775"/>
          </a:xfrm>
          <a:prstGeom prst="rect">
            <a:avLst/>
          </a:prstGeom>
          <a:noFill/>
          <a:ln w="9525">
            <a:noFill/>
            <a:miter lim="800000"/>
            <a:headEnd/>
            <a:tailEnd/>
          </a:ln>
        </p:spPr>
      </p:pic>
      <p:sp>
        <p:nvSpPr>
          <p:cNvPr id="7" name="Rectangle 6"/>
          <p:cNvSpPr/>
          <p:nvPr/>
        </p:nvSpPr>
        <p:spPr>
          <a:xfrm>
            <a:off x="2286000" y="3334692"/>
            <a:ext cx="4572000" cy="646331"/>
          </a:xfrm>
          <a:prstGeom prst="rect">
            <a:avLst/>
          </a:prstGeom>
        </p:spPr>
        <p:txBody>
          <a:bodyPr wrap="square">
            <a:spAutoFit/>
          </a:bodyPr>
          <a:lstStyle/>
          <a:p>
            <a:r>
              <a:rPr lang="en-US" dirty="0" smtClean="0"/>
              <a:t/>
            </a:r>
            <a:br>
              <a:rPr lang="en-US" dirty="0" smtClean="0"/>
            </a:br>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noChangeArrowheads="1"/>
          </p:cNvSpPr>
          <p:nvPr>
            <p:ph type="title"/>
          </p:nvPr>
        </p:nvSpPr>
        <p:spPr>
          <a:xfrm>
            <a:off x="1928793" y="285728"/>
            <a:ext cx="4143405" cy="857255"/>
          </a:xfrm>
        </p:spPr>
        <p:txBody>
          <a:bodyPr/>
          <a:lstStyle/>
          <a:p>
            <a:pPr algn="just" eaLnBrk="1" hangingPunct="1"/>
            <a:r>
              <a:rPr lang="en-US" altLang="en-US" sz="2800" b="1" u="sng" dirty="0" err="1" smtClean="0">
                <a:latin typeface="Times New Roman" pitchFamily="18" charset="0"/>
                <a:cs typeface="Times New Roman" pitchFamily="18" charset="0"/>
              </a:rPr>
              <a:t>Research&amp;References</a:t>
            </a:r>
            <a:r>
              <a:rPr lang="en-IN" altLang="en-US" sz="2800" b="1" dirty="0" smtClean="0">
                <a:latin typeface="Times New Roman" pitchFamily="18" charset="0"/>
                <a:cs typeface="Times New Roman" pitchFamily="18" charset="0"/>
              </a:rPr>
              <a:t/>
            </a:r>
            <a:br>
              <a:rPr lang="en-IN" altLang="en-US" sz="2800" b="1" dirty="0" smtClean="0">
                <a:latin typeface="Times New Roman" pitchFamily="18" charset="0"/>
                <a:cs typeface="Times New Roman" pitchFamily="18" charset="0"/>
              </a:rPr>
            </a:br>
            <a:endParaRPr lang="en-IN" altLang="en-US" sz="2800" b="1" dirty="0" smtClean="0">
              <a:solidFill>
                <a:srgbClr val="FF0000"/>
              </a:solidFill>
              <a:latin typeface="Times New Roman" pitchFamily="18" charset="0"/>
              <a:cs typeface="Times New Roman" pitchFamily="18" charset="0"/>
            </a:endParaRPr>
          </a:p>
        </p:txBody>
      </p:sp>
      <p:sp>
        <p:nvSpPr>
          <p:cNvPr id="3" name="Content Placeholder 2"/>
          <p:cNvSpPr>
            <a:spLocks noGrp="1"/>
          </p:cNvSpPr>
          <p:nvPr>
            <p:ph idx="1"/>
          </p:nvPr>
        </p:nvSpPr>
        <p:spPr>
          <a:xfrm>
            <a:off x="428596" y="1071546"/>
            <a:ext cx="8258204" cy="5429288"/>
          </a:xfrm>
        </p:spPr>
        <p:txBody>
          <a:bodyPr rtlCol="0">
            <a:noAutofit/>
          </a:bodyPr>
          <a:lstStyle/>
          <a:p>
            <a:r>
              <a:rPr lang="en-US" sz="1800" b="1" dirty="0" smtClean="0">
                <a:latin typeface="Times New Roman" pitchFamily="18" charset="0"/>
                <a:cs typeface="Times New Roman" pitchFamily="18" charset="0"/>
              </a:rPr>
              <a:t> </a:t>
            </a:r>
            <a:r>
              <a:rPr lang="en-US" sz="2000" b="1" dirty="0" smtClean="0">
                <a:latin typeface="Californian FB" pitchFamily="18" charset="0"/>
                <a:cs typeface="Times New Roman" pitchFamily="18" charset="0"/>
              </a:rPr>
              <a:t>Detection of Glaucoma Disease using Image Processing, Soft Computing and Deep Learning Approaches</a:t>
            </a:r>
          </a:p>
          <a:p>
            <a:r>
              <a:rPr lang="en-US" sz="2000" u="sng" dirty="0" smtClean="0">
                <a:solidFill>
                  <a:srgbClr val="0070C0"/>
                </a:solidFill>
                <a:latin typeface="Bahnschrift Light" pitchFamily="34" charset="0"/>
                <a:hlinkClick r:id="rId2"/>
              </a:rPr>
              <a:t>https://ieeexplore.ieee.org/document/9243596</a:t>
            </a:r>
            <a:endParaRPr lang="en-US" sz="2000" u="sng" dirty="0" smtClean="0">
              <a:solidFill>
                <a:srgbClr val="0070C0"/>
              </a:solidFill>
              <a:latin typeface="Bahnschrift Light" pitchFamily="34" charset="0"/>
            </a:endParaRPr>
          </a:p>
          <a:p>
            <a:pPr>
              <a:buNone/>
            </a:pPr>
            <a:endParaRPr lang="en-IN" sz="2000" u="sng" dirty="0" smtClean="0">
              <a:solidFill>
                <a:srgbClr val="0070C0"/>
              </a:solidFill>
              <a:latin typeface="Bahnschrift Light" pitchFamily="34" charset="0"/>
              <a:cs typeface="Times New Roman" panose="02020603050405020304" pitchFamily="18" charset="0"/>
            </a:endParaRPr>
          </a:p>
          <a:p>
            <a:pPr>
              <a:buFont typeface="Arial" pitchFamily="34" charset="0"/>
              <a:buChar char="•"/>
            </a:pPr>
            <a:r>
              <a:rPr lang="en-US" sz="2000" b="1" dirty="0" smtClean="0">
                <a:latin typeface="Californian FB" pitchFamily="18" charset="0"/>
                <a:cs typeface="Times New Roman" pitchFamily="18" charset="0"/>
              </a:rPr>
              <a:t>An Online Platform for Early Eye Disease Detection using Deep Convolutional Neural Networks</a:t>
            </a:r>
          </a:p>
          <a:p>
            <a:pPr>
              <a:buFont typeface="Arial" pitchFamily="34" charset="0"/>
              <a:buChar char="•"/>
            </a:pPr>
            <a:r>
              <a:rPr lang="en-US" sz="2000" u="sng" dirty="0" smtClean="0">
                <a:solidFill>
                  <a:srgbClr val="0070C0"/>
                </a:solidFill>
                <a:latin typeface="Bahnschrift Light" pitchFamily="34" charset="0"/>
                <a:hlinkClick r:id="rId3"/>
              </a:rPr>
              <a:t>https://ieeexplore.ieee.org/document/9780765</a:t>
            </a:r>
            <a:endParaRPr lang="en-US" sz="2000" u="sng" dirty="0" smtClean="0">
              <a:solidFill>
                <a:srgbClr val="0070C0"/>
              </a:solidFill>
              <a:latin typeface="Bahnschrift Light" pitchFamily="34" charset="0"/>
            </a:endParaRPr>
          </a:p>
          <a:p>
            <a:pPr>
              <a:buNone/>
            </a:pPr>
            <a:endParaRPr lang="en-US" sz="2000" dirty="0" smtClean="0">
              <a:latin typeface="Bahnschrift Light" pitchFamily="34" charset="0"/>
            </a:endParaRPr>
          </a:p>
          <a:p>
            <a:pPr>
              <a:buFont typeface="Arial" pitchFamily="34" charset="0"/>
              <a:buChar char="•"/>
            </a:pPr>
            <a:r>
              <a:rPr lang="en-US" sz="2000" b="1" dirty="0" smtClean="0">
                <a:latin typeface="Californian FB" pitchFamily="18" charset="0"/>
              </a:rPr>
              <a:t>Retinal Eye Disease Detection Using Deep Learning</a:t>
            </a:r>
          </a:p>
          <a:p>
            <a:pPr>
              <a:buFont typeface="Arial" pitchFamily="34" charset="0"/>
              <a:buChar char="•"/>
            </a:pPr>
            <a:r>
              <a:rPr lang="en-US" sz="2000" u="sng" dirty="0" smtClean="0">
                <a:solidFill>
                  <a:srgbClr val="00B0F0"/>
                </a:solidFill>
                <a:latin typeface="Bahnschrift Light" pitchFamily="34" charset="0"/>
                <a:hlinkClick r:id="rId4"/>
              </a:rPr>
              <a:t>https://</a:t>
            </a:r>
            <a:r>
              <a:rPr lang="en-US" sz="2000" u="sng" dirty="0" smtClean="0">
                <a:solidFill>
                  <a:srgbClr val="00B0F0"/>
                </a:solidFill>
                <a:latin typeface="Bahnschrift Light" pitchFamily="34" charset="0"/>
                <a:hlinkClick r:id="rId4"/>
              </a:rPr>
              <a:t>ieeexplore.ieee.org/document/9096838</a:t>
            </a:r>
            <a:endParaRPr lang="en-US" sz="2000" u="sng" dirty="0" smtClean="0">
              <a:solidFill>
                <a:srgbClr val="00B0F0"/>
              </a:solidFill>
              <a:latin typeface="Bahnschrift Light" pitchFamily="34" charset="0"/>
            </a:endParaRPr>
          </a:p>
          <a:p>
            <a:pPr>
              <a:buFont typeface="Arial" pitchFamily="34" charset="0"/>
              <a:buChar char="•"/>
            </a:pPr>
            <a:endParaRPr lang="en-US" sz="2000" u="sng" dirty="0" smtClean="0">
              <a:solidFill>
                <a:srgbClr val="0070C0"/>
              </a:solidFill>
              <a:latin typeface="Bahnschrift Light" pitchFamily="34" charset="0"/>
            </a:endParaRPr>
          </a:p>
          <a:p>
            <a:pPr>
              <a:buFont typeface="Arial" pitchFamily="34" charset="0"/>
              <a:buChar char="•"/>
            </a:pPr>
            <a:r>
              <a:rPr lang="en-US" sz="2000" dirty="0" smtClean="0">
                <a:latin typeface="Times New Roman" pitchFamily="18" charset="0"/>
                <a:cs typeface="Times New Roman" pitchFamily="18" charset="0"/>
              </a:rPr>
              <a:t>DL-CNN-based approach with image processing techniques for diagnosis of retinal diseases</a:t>
            </a:r>
            <a:endParaRPr lang="en-US" sz="2000" u="sng" dirty="0" smtClean="0">
              <a:solidFill>
                <a:srgbClr val="0070C0"/>
              </a:solidFill>
              <a:latin typeface="Times New Roman" pitchFamily="18" charset="0"/>
              <a:cs typeface="Times New Roman" pitchFamily="18" charset="0"/>
            </a:endParaRPr>
          </a:p>
          <a:p>
            <a:pPr>
              <a:buFont typeface="Arial" pitchFamily="34" charset="0"/>
              <a:buChar char="•"/>
            </a:pPr>
            <a:r>
              <a:rPr lang="en-US" sz="2000" u="sng" dirty="0" smtClean="0">
                <a:solidFill>
                  <a:srgbClr val="002060"/>
                </a:solidFill>
                <a:latin typeface="Bahnschrift Light" pitchFamily="34" charset="0"/>
                <a:hlinkClick r:id="rId5"/>
              </a:rPr>
              <a:t>https://</a:t>
            </a:r>
            <a:r>
              <a:rPr lang="en-US" sz="2000" u="sng" dirty="0" smtClean="0">
                <a:solidFill>
                  <a:srgbClr val="002060"/>
                </a:solidFill>
                <a:latin typeface="Bahnschrift Light" pitchFamily="34" charset="0"/>
                <a:hlinkClick r:id="rId5"/>
              </a:rPr>
              <a:t>typeset.io/papers/dl-cnn-based-approach-with-image-processing-techniques-for-4flzs206lg</a:t>
            </a:r>
            <a:endParaRPr lang="en-US" sz="2000" u="sng" dirty="0" smtClean="0">
              <a:solidFill>
                <a:srgbClr val="002060"/>
              </a:solidFill>
              <a:latin typeface="Bahnschrift Light" pitchFamily="34" charset="0"/>
            </a:endParaRPr>
          </a:p>
          <a:p>
            <a:pPr>
              <a:buFont typeface="Arial" pitchFamily="34" charset="0"/>
              <a:buChar char="•"/>
            </a:pPr>
            <a:endParaRPr lang="en-US" sz="2000" u="sng" dirty="0" smtClean="0">
              <a:solidFill>
                <a:srgbClr val="002060"/>
              </a:solidFill>
              <a:latin typeface="Bahnschrift Light" pitchFamily="34" charset="0"/>
            </a:endParaRPr>
          </a:p>
          <a:p>
            <a:pPr>
              <a:buFont typeface="Arial" pitchFamily="34" charset="0"/>
              <a:buChar char="•"/>
            </a:pPr>
            <a:endParaRPr lang="en-US" sz="2000" u="sng" dirty="0" smtClean="0">
              <a:solidFill>
                <a:srgbClr val="002060"/>
              </a:solidFill>
              <a:latin typeface="Bahnschrift Light" pitchFamily="34" charset="0"/>
            </a:endParaRPr>
          </a:p>
          <a:p>
            <a:pPr>
              <a:buFont typeface="Arial" pitchFamily="34" charset="0"/>
              <a:buChar char="•"/>
            </a:pPr>
            <a:endParaRPr lang="en-US" sz="2000" u="sng" dirty="0" smtClean="0">
              <a:solidFill>
                <a:srgbClr val="0070C0"/>
              </a:solidFill>
              <a:latin typeface="Bahnschrift Light" pitchFamily="34" charset="0"/>
            </a:endParaRPr>
          </a:p>
          <a:p>
            <a:pPr>
              <a:buFont typeface="Arial" pitchFamily="34" charset="0"/>
              <a:buChar char="•"/>
            </a:pPr>
            <a:endParaRPr lang="en-US" sz="2000" dirty="0" smtClean="0">
              <a:latin typeface="Bahnschrift Light" pitchFamily="34" charset="0"/>
            </a:endParaRPr>
          </a:p>
          <a:p>
            <a:pPr>
              <a:buFont typeface="Arial" pitchFamily="34" charset="0"/>
              <a:buChar char="•"/>
            </a:pPr>
            <a:endParaRPr lang="en-US" sz="2000" dirty="0" smtClean="0">
              <a:latin typeface="Bahnschrift Light" pitchFamily="34" charset="0"/>
            </a:endParaRPr>
          </a:p>
        </p:txBody>
      </p:sp>
      <p:sp>
        <p:nvSpPr>
          <p:cNvPr id="13316" name="Slide Number Placeholder 1"/>
          <p:cNvSpPr>
            <a:spLocks noGrp="1" noChangeArrowheads="1"/>
          </p:cNvSpPr>
          <p:nvPr>
            <p:ph type="sldNum" sz="quarter" idx="12"/>
          </p:nvPr>
        </p:nvSpPr>
        <p:spPr bwMode="auto">
          <a:noFill/>
          <a:ln>
            <a:miter lim="800000"/>
            <a:headEnd/>
            <a:tailEnd/>
          </a:ln>
        </p:spPr>
        <p:txBody>
          <a:bodyPr/>
          <a:lstStyle/>
          <a:p>
            <a:fld id="{70A2F8F4-929C-4F45-B2B8-CE346DAF2304}" type="slidenum">
              <a:rPr lang="en-US" altLang="en-US" smtClean="0"/>
              <a:pPr/>
              <a:t>15</a:t>
            </a:fld>
            <a:endParaRPr lang="en-US" altLang="en-US" smtClean="0"/>
          </a:p>
        </p:txBody>
      </p:sp>
      <p:pic>
        <p:nvPicPr>
          <p:cNvPr id="6" name="Picture 7" descr="GITAM NEW LOGO green@3x.png"/>
          <p:cNvPicPr>
            <a:picLocks noChangeAspect="1"/>
          </p:cNvPicPr>
          <p:nvPr/>
        </p:nvPicPr>
        <p:blipFill>
          <a:blip r:embed="rId6"/>
          <a:srcRect/>
          <a:stretch>
            <a:fillRect/>
          </a:stretch>
        </p:blipFill>
        <p:spPr bwMode="auto">
          <a:xfrm>
            <a:off x="6715125" y="214313"/>
            <a:ext cx="2286000" cy="993775"/>
          </a:xfrm>
          <a:prstGeom prst="rect">
            <a:avLst/>
          </a:prstGeom>
          <a:noFill/>
          <a:ln w="9525">
            <a:noFill/>
            <a:miter lim="800000"/>
            <a:headEnd/>
            <a:tailEnd/>
          </a:ln>
        </p:spPr>
      </p:pic>
      <p:sp>
        <p:nvSpPr>
          <p:cNvPr id="7" name="Rectangle 6"/>
          <p:cNvSpPr/>
          <p:nvPr/>
        </p:nvSpPr>
        <p:spPr>
          <a:xfrm>
            <a:off x="2286000" y="3334692"/>
            <a:ext cx="4572000" cy="646331"/>
          </a:xfrm>
          <a:prstGeom prst="rect">
            <a:avLst/>
          </a:prstGeom>
        </p:spPr>
        <p:txBody>
          <a:bodyPr wrap="square">
            <a:spAutoFit/>
          </a:bodyPr>
          <a:lstStyle/>
          <a:p>
            <a:r>
              <a:rPr lang="en-US" dirty="0" smtClean="0"/>
              <a:t/>
            </a:r>
            <a:br>
              <a:rPr lang="en-US" dirty="0" smtClean="0"/>
            </a:br>
            <a:endParaRPr lang="en-US" dirty="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Executive</Template>
  <TotalTime>5356</TotalTime>
  <Words>1461</Words>
  <Application>Microsoft Office PowerPoint</Application>
  <PresentationFormat>On-screen Show (4:3)</PresentationFormat>
  <Paragraphs>198</Paragraphs>
  <Slides>15</Slides>
  <Notes>0</Notes>
  <HiddenSlides>0</HiddenSlides>
  <MMClips>0</MMClips>
  <ScaleCrop>false</ScaleCrop>
  <HeadingPairs>
    <vt:vector size="4" baseType="variant">
      <vt:variant>
        <vt:lpstr>Theme</vt:lpstr>
      </vt:variant>
      <vt:variant>
        <vt:i4>2</vt:i4>
      </vt:variant>
      <vt:variant>
        <vt:lpstr>Slide Titles</vt:lpstr>
      </vt:variant>
      <vt:variant>
        <vt:i4>15</vt:i4>
      </vt:variant>
    </vt:vector>
  </HeadingPairs>
  <TitlesOfParts>
    <vt:vector size="17" baseType="lpstr">
      <vt:lpstr>Office Theme</vt:lpstr>
      <vt:lpstr>1_Office Theme</vt:lpstr>
      <vt:lpstr>  Review – 2 on Eye Disease prediction using CNN Domain: Deep Learning </vt:lpstr>
      <vt:lpstr>Slide 2</vt:lpstr>
      <vt:lpstr>Slide 3</vt:lpstr>
      <vt:lpstr>Slide 4</vt:lpstr>
      <vt:lpstr>Slide 5</vt:lpstr>
      <vt:lpstr>Slide 6</vt:lpstr>
      <vt:lpstr>Slide 7</vt:lpstr>
      <vt:lpstr>Slide 8</vt:lpstr>
      <vt:lpstr>Flowchart</vt:lpstr>
      <vt:lpstr>Slide 10</vt:lpstr>
      <vt:lpstr>Slide 11</vt:lpstr>
      <vt:lpstr>Slide 12</vt:lpstr>
      <vt:lpstr>Slide 13</vt:lpstr>
      <vt:lpstr>Research&amp;References </vt:lpstr>
      <vt:lpstr>Research&amp;References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ADMIN</cp:lastModifiedBy>
  <cp:revision>45</cp:revision>
  <dcterms:created xsi:type="dcterms:W3CDTF">2024-09-06T03:49:57Z</dcterms:created>
  <dcterms:modified xsi:type="dcterms:W3CDTF">2024-10-30T06:36:00Z</dcterms:modified>
</cp:coreProperties>
</file>